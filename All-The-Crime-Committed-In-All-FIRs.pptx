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B3F"/>
        </a:solidFill>
        <a:effectLst/>
      </p:bgPr>
    </p:bg>
    <p:spTree>
      <p:nvGrpSpPr>
        <p:cNvPr id="1" name=""/>
        <p:cNvGrpSpPr/>
        <p:nvPr/>
      </p:nvGrpSpPr>
      <p:grpSpPr/>
      <p:sp>
        <p:nvSpPr>
          <p:cNvPr id="2" name="TextBox 1"/>
          <p:cNvSpPr txBox="1"/>
          <p:nvPr/>
        </p:nvSpPr>
        <p:spPr>
          <a:xfrm>
            <a:off x="731520" y="1143000"/>
            <a:ext cx="10698480" cy="1325880"/>
          </a:xfrm>
          <a:prstGeom prst="rect">
            <a:avLst/>
          </a:prstGeom>
          <a:noFill/>
        </p:spPr>
        <p:txBody>
          <a:bodyPr wrap="square">
            <a:spAutoFit/>
          </a:bodyPr>
          <a:lstStyle/>
          <a:p>
            <a:pPr>
              <a:defRPr sz="3000" b="1">
                <a:solidFill>
                  <a:srgbClr val="FFFFFF"/>
                </a:solidFill>
                <a:latin typeface="Aptos"/>
              </a:defRPr>
            </a:pPr>
            <a:r>
              <a:t>All The Crime Committed In All FIRs</a:t>
            </a:r>
          </a:p>
        </p:txBody>
      </p:sp>
      <p:sp>
        <p:nvSpPr>
          <p:cNvPr id="3" name="TextBox 2"/>
          <p:cNvSpPr txBox="1"/>
          <p:nvPr/>
        </p:nvSpPr>
        <p:spPr>
          <a:xfrm>
            <a:off x="777240" y="2697480"/>
            <a:ext cx="9875520" cy="731520"/>
          </a:xfrm>
          <a:prstGeom prst="rect">
            <a:avLst/>
          </a:prstGeom>
          <a:noFill/>
        </p:spPr>
        <p:txBody>
          <a:bodyPr wrap="square">
            <a:spAutoFit/>
          </a:bodyPr>
          <a:lstStyle/>
          <a:p>
            <a:pPr>
              <a:defRPr sz="1600" b="0">
                <a:solidFill>
                  <a:srgbClr val="D6E4E5"/>
                </a:solidFill>
                <a:latin typeface="Aptos"/>
              </a:defRPr>
            </a:pPr>
            <a:r>
              <a:t>Presentation for General business audience</a:t>
            </a:r>
          </a:p>
        </p:txBody>
      </p:sp>
      <p:sp>
        <p:nvSpPr>
          <p:cNvPr id="4" name="TextBox 3"/>
          <p:cNvSpPr txBox="1"/>
          <p:nvPr/>
        </p:nvSpPr>
        <p:spPr>
          <a:xfrm>
            <a:off x="777240" y="6035040"/>
            <a:ext cx="2743200" cy="228600"/>
          </a:xfrm>
          <a:prstGeom prst="rect">
            <a:avLst/>
          </a:prstGeom>
          <a:noFill/>
        </p:spPr>
        <p:txBody>
          <a:bodyPr wrap="square">
            <a:spAutoFit/>
          </a:bodyPr>
          <a:lstStyle/>
          <a:p>
            <a:pPr>
              <a:defRPr sz="1000" b="0">
                <a:solidFill>
                  <a:srgbClr val="AFC7C9"/>
                </a:solidFill>
                <a:latin typeface="Aptos"/>
              </a:defRPr>
            </a:pPr>
            <a:r>
              <a:t>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594360" y="256032"/>
            <a:ext cx="10972800" cy="640080"/>
          </a:xfrm>
          <a:prstGeom prst="rect">
            <a:avLst/>
          </a:prstGeom>
          <a:noFill/>
        </p:spPr>
        <p:txBody>
          <a:bodyPr wrap="square">
            <a:spAutoFit/>
          </a:bodyPr>
          <a:lstStyle/>
          <a:p>
            <a:pPr>
              <a:defRPr sz="2300" b="1">
                <a:solidFill>
                  <a:srgbClr val="173B3F"/>
                </a:solidFill>
                <a:latin typeface="Aptos"/>
              </a:defRPr>
            </a:pPr>
            <a:r>
              <a:t>Summary (1/3)</a:t>
            </a:r>
          </a:p>
        </p:txBody>
      </p:sp>
      <p:sp>
        <p:nvSpPr>
          <p:cNvPr id="3" name="TextBox 2"/>
          <p:cNvSpPr txBox="1"/>
          <p:nvPr/>
        </p:nvSpPr>
        <p:spPr>
          <a:xfrm>
            <a:off x="822960" y="1051560"/>
            <a:ext cx="10515600" cy="4892040"/>
          </a:xfrm>
          <a:prstGeom prst="rect">
            <a:avLst/>
          </a:prstGeom>
          <a:noFill/>
        </p:spPr>
        <p:txBody>
          <a:bodyPr wrap="square">
            <a:spAutoFit/>
          </a:bodyPr>
          <a:lstStyle/>
          <a:p>
            <a:pPr>
              <a:spcAft>
                <a:spcPts val="800"/>
              </a:spcAft>
              <a:defRPr sz="1300">
                <a:latin typeface="Aptos"/>
              </a:defRPr>
            </a:pPr>
            <a:r>
              <a:t>The provided First Information Reports (FIRs) detail four distinct criminal incidents involving cyber fraud, narcotics trafficking, murder, and kidnapping for ransom. Each case involves specific legal charges, forensic evidence collection, and designated investigating officers.</a:t>
            </a:r>
          </a:p>
          <a:p>
            <a:pPr>
              <a:spcAft>
                <a:spcPts val="800"/>
              </a:spcAft>
              <a:defRPr sz="1300">
                <a:latin typeface="Aptos"/>
              </a:defRPr>
            </a:pPr>
            <a:r>
              <a:t>Cyber Fraud (FIR_04): A fraudulent Facebook profile impersonating Dr. Sana Malik solicited funds, resulting in PKR 4,20,000 transferred to EasyPaisa accounts by five victims. The accused, Bilal Riaz Cheema, is linked via IP tracing and device forensics. The case is registered under Section 24 of the Prevention of El...</a:t>
            </a:r>
          </a:p>
        </p:txBody>
      </p:sp>
      <p:sp>
        <p:nvSpPr>
          <p:cNvPr id="4" name="TextBox 3"/>
          <p:cNvSpPr txBox="1"/>
          <p:nvPr/>
        </p:nvSpPr>
        <p:spPr>
          <a:xfrm>
            <a:off x="640080" y="6236208"/>
            <a:ext cx="10789920" cy="228600"/>
          </a:xfrm>
          <a:prstGeom prst="rect">
            <a:avLst/>
          </a:prstGeom>
          <a:noFill/>
        </p:spPr>
        <p:txBody>
          <a:bodyPr wrap="square">
            <a:spAutoFit/>
          </a:bodyPr>
          <a:lstStyle/>
          <a:p>
            <a:pPr>
              <a:defRPr sz="800" b="0">
                <a:solidFill>
                  <a:srgbClr val="53676A"/>
                </a:solidFill>
                <a:latin typeface="Aptos"/>
              </a:defRPr>
            </a:pPr>
            <a:r>
              <a:t>Sources: FIR_04_cybercrime.pdf, p. 1; FIR_05_narcotics.pdf, p. 1; FIR_fictitious.pdf, p. 1; FIR_05_narcotics.pdf, p. 2; FIR_02_kidnapping.pdf, p. 1; +1 more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594360" y="256032"/>
            <a:ext cx="10972800" cy="640080"/>
          </a:xfrm>
          <a:prstGeom prst="rect">
            <a:avLst/>
          </a:prstGeom>
          <a:noFill/>
        </p:spPr>
        <p:txBody>
          <a:bodyPr wrap="square">
            <a:spAutoFit/>
          </a:bodyPr>
          <a:lstStyle/>
          <a:p>
            <a:pPr>
              <a:defRPr sz="2300" b="1">
                <a:solidFill>
                  <a:srgbClr val="173B3F"/>
                </a:solidFill>
                <a:latin typeface="Aptos"/>
              </a:defRPr>
            </a:pPr>
            <a:r>
              <a:t>Summary (2/3)</a:t>
            </a:r>
          </a:p>
        </p:txBody>
      </p:sp>
      <p:sp>
        <p:nvSpPr>
          <p:cNvPr id="3" name="TextBox 2"/>
          <p:cNvSpPr txBox="1"/>
          <p:nvPr/>
        </p:nvSpPr>
        <p:spPr>
          <a:xfrm>
            <a:off x="822960" y="1051560"/>
            <a:ext cx="10515600" cy="4892040"/>
          </a:xfrm>
          <a:prstGeom prst="rect">
            <a:avLst/>
          </a:prstGeom>
          <a:noFill/>
        </p:spPr>
        <p:txBody>
          <a:bodyPr wrap="square">
            <a:spAutoFit/>
          </a:bodyPr>
          <a:lstStyle/>
          <a:p>
            <a:pPr>
              <a:spcAft>
                <a:spcPts val="800"/>
              </a:spcAft>
              <a:defRPr sz="1300">
                <a:latin typeface="Aptos"/>
              </a:defRPr>
            </a:pPr>
            <a:r>
              <a:t>Narcotics Trafficking (FIR_05): Eighteen packets of narcotics were recovered from a vehicle with a professionally fabricated hidden compartment. The evidence was sent to PFSA for analysis. The case is registered under Section 9(c) and Section 15 of the Control of Narcotic Substances Act 1997, with SSP Junaid Hafeez...</a:t>
            </a:r>
          </a:p>
          <a:p>
            <a:pPr>
              <a:spcAft>
                <a:spcPts val="800"/>
              </a:spcAft>
              <a:defRPr sz="1300">
                <a:latin typeface="Aptos"/>
              </a:defRPr>
            </a:pPr>
            <a:r>
              <a:t>Murder (FIR_fictitious): A victim died from haemorrhagic shock due to stab wounds. Evidence includes a blood-stained knife, CCTV footage capturing the accused's face, and a post-mortem report. The case is registered under Section 302 PPC (Qatl-e-Amd) and Section 34 PPC, with DSP Muhammad Aslam Khan as the Investigat...</a:t>
            </a:r>
          </a:p>
        </p:txBody>
      </p:sp>
      <p:sp>
        <p:nvSpPr>
          <p:cNvPr id="4" name="TextBox 3"/>
          <p:cNvSpPr txBox="1"/>
          <p:nvPr/>
        </p:nvSpPr>
        <p:spPr>
          <a:xfrm>
            <a:off x="640080" y="6236208"/>
            <a:ext cx="10789920" cy="228600"/>
          </a:xfrm>
          <a:prstGeom prst="rect">
            <a:avLst/>
          </a:prstGeom>
          <a:noFill/>
        </p:spPr>
        <p:txBody>
          <a:bodyPr wrap="square">
            <a:spAutoFit/>
          </a:bodyPr>
          <a:lstStyle/>
          <a:p>
            <a:pPr>
              <a:defRPr sz="800" b="0">
                <a:solidFill>
                  <a:srgbClr val="53676A"/>
                </a:solidFill>
                <a:latin typeface="Aptos"/>
              </a:defRPr>
            </a:pPr>
            <a:r>
              <a:t>Sources: FIR_04_cybercrime.pdf, p. 1; FIR_05_narcotics.pdf, p. 1; FIR_fictitious.pdf, p. 1; FIR_05_narcotics.pdf, p. 2; FIR_02_kidnapping.pdf, p. 1; +1 more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594360" y="256032"/>
            <a:ext cx="10972800" cy="640080"/>
          </a:xfrm>
          <a:prstGeom prst="rect">
            <a:avLst/>
          </a:prstGeom>
          <a:noFill/>
        </p:spPr>
        <p:txBody>
          <a:bodyPr wrap="square">
            <a:spAutoFit/>
          </a:bodyPr>
          <a:lstStyle/>
          <a:p>
            <a:pPr>
              <a:defRPr sz="2300" b="1">
                <a:solidFill>
                  <a:srgbClr val="173B3F"/>
                </a:solidFill>
                <a:latin typeface="Aptos"/>
              </a:defRPr>
            </a:pPr>
            <a:r>
              <a:t>Summary (3/3)</a:t>
            </a:r>
          </a:p>
        </p:txBody>
      </p:sp>
      <p:sp>
        <p:nvSpPr>
          <p:cNvPr id="3" name="TextBox 2"/>
          <p:cNvSpPr txBox="1"/>
          <p:nvPr/>
        </p:nvSpPr>
        <p:spPr>
          <a:xfrm>
            <a:off x="822960" y="1051560"/>
            <a:ext cx="10515600" cy="4892040"/>
          </a:xfrm>
          <a:prstGeom prst="rect">
            <a:avLst/>
          </a:prstGeom>
          <a:noFill/>
        </p:spPr>
        <p:txBody>
          <a:bodyPr wrap="square">
            <a:spAutoFit/>
          </a:bodyPr>
          <a:lstStyle/>
          <a:p>
            <a:pPr>
              <a:spcAft>
                <a:spcPts val="800"/>
              </a:spcAft>
              <a:defRPr sz="1300">
                <a:latin typeface="Aptos"/>
              </a:defRPr>
            </a:pPr>
            <a:r>
              <a:t>Kidnapping for Ransom (FIR_02): A ransom demand was made using an unregistered SIM, and a vehicle with cloned plates was traced. Geo-fencing and CDR analysis are underway. The case is registered under Section 365-A PPC and Section 7 of the Anti-Terrorism Act 1997, with SP Khalid Mehmood Awan leading a Special Invest...</a:t>
            </a:r>
          </a:p>
          <a:p>
            <a:pPr>
              <a:spcAft>
                <a:spcPts val="800"/>
              </a:spcAft>
              <a:defRPr sz="1300">
                <a:latin typeface="Aptos"/>
              </a:defRPr>
            </a:pPr>
            <a:r>
              <a:t>Robbery (FIR_03): The accused, Imran Zafar alias Kala, robbed a victim using a firearm. Evidence includes CCTV footage, a spent cartridge, and medical records. The accused has a prior criminal record. The case is registered under Section 392 PPC and Section 397 PPC, with Inspector Aamir Nawaz Siddiqui as the Investi...</a:t>
            </a:r>
          </a:p>
        </p:txBody>
      </p:sp>
      <p:sp>
        <p:nvSpPr>
          <p:cNvPr id="4" name="TextBox 3"/>
          <p:cNvSpPr txBox="1"/>
          <p:nvPr/>
        </p:nvSpPr>
        <p:spPr>
          <a:xfrm>
            <a:off x="640080" y="6236208"/>
            <a:ext cx="10789920" cy="228600"/>
          </a:xfrm>
          <a:prstGeom prst="rect">
            <a:avLst/>
          </a:prstGeom>
          <a:noFill/>
        </p:spPr>
        <p:txBody>
          <a:bodyPr wrap="square">
            <a:spAutoFit/>
          </a:bodyPr>
          <a:lstStyle/>
          <a:p>
            <a:pPr>
              <a:defRPr sz="800" b="0">
                <a:solidFill>
                  <a:srgbClr val="53676A"/>
                </a:solidFill>
                <a:latin typeface="Aptos"/>
              </a:defRPr>
            </a:pPr>
            <a:r>
              <a:t>Sources: FIR_04_cybercrime.pdf, p. 1; FIR_05_narcotics.pdf, p. 1; FIR_fictitious.pdf, p. 1; FIR_05_narcotics.pdf, p. 2; FIR_02_kidnapping.pdf, p. 1; +1 more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594360" y="256032"/>
            <a:ext cx="10972800" cy="640080"/>
          </a:xfrm>
          <a:prstGeom prst="rect">
            <a:avLst/>
          </a:prstGeom>
          <a:noFill/>
        </p:spPr>
        <p:txBody>
          <a:bodyPr wrap="square">
            <a:spAutoFit/>
          </a:bodyPr>
          <a:lstStyle/>
          <a:p>
            <a:pPr>
              <a:defRPr sz="2300" b="1">
                <a:solidFill>
                  <a:srgbClr val="173B3F"/>
                </a:solidFill>
                <a:latin typeface="Aptos"/>
              </a:defRPr>
            </a:pPr>
            <a:r>
              <a:t>Details</a:t>
            </a:r>
          </a:p>
        </p:txBody>
      </p:sp>
      <p:graphicFrame>
        <p:nvGraphicFramePr>
          <p:cNvPr id="3" name="Table 2"/>
          <p:cNvGraphicFramePr>
            <a:graphicFrameLocks noGrp="1"/>
          </p:cNvGraphicFramePr>
          <p:nvPr/>
        </p:nvGraphicFramePr>
        <p:xfrm>
          <a:off x="502920" y="1051560"/>
          <a:ext cx="11155680" cy="4937760"/>
        </p:xfrm>
        <a:graphic>
          <a:graphicData uri="http://schemas.openxmlformats.org/drawingml/2006/table">
            <a:tbl>
              <a:tblPr firstRow="1" bandRow="1">
                <a:tableStyleId>{5C22544A-7EE6-4342-B048-85BDC9FD1C3A}</a:tableStyleId>
              </a:tblPr>
              <a:tblGrid>
                <a:gridCol w="2788920"/>
                <a:gridCol w="2788920"/>
                <a:gridCol w="2788920"/>
                <a:gridCol w="2788920"/>
              </a:tblGrid>
              <a:tr h="822960">
                <a:tc>
                  <a:txBody>
                    <a:bodyPr/>
                    <a:lstStyle/>
                    <a:p>
                      <a:r>
                        <a:rPr b="1" sz="1000">
                          <a:solidFill>
                            <a:srgbClr val="FFFFFF"/>
                          </a:solidFill>
                        </a:rPr>
                        <a:t>FIR</a:t>
                      </a:r>
                    </a:p>
                  </a:txBody>
                  <a:tcPr>
                    <a:solidFill>
                      <a:srgbClr val="173B3F"/>
                    </a:solidFill>
                  </a:tcPr>
                </a:tc>
                <a:tc>
                  <a:txBody>
                    <a:bodyPr/>
                    <a:lstStyle/>
                    <a:p>
                      <a:r>
                        <a:rPr b="1" sz="1000">
                          <a:solidFill>
                            <a:srgbClr val="FFFFFF"/>
                          </a:solidFill>
                        </a:rPr>
                        <a:t>Crime / offense</a:t>
                      </a:r>
                    </a:p>
                  </a:txBody>
                  <a:tcPr>
                    <a:solidFill>
                      <a:srgbClr val="173B3F"/>
                    </a:solidFill>
                  </a:tcPr>
                </a:tc>
                <a:tc>
                  <a:txBody>
                    <a:bodyPr/>
                    <a:lstStyle/>
                    <a:p>
                      <a:r>
                        <a:rPr b="1" sz="1000">
                          <a:solidFill>
                            <a:srgbClr val="FFFFFF"/>
                          </a:solidFill>
                        </a:rPr>
                        <a:t>Legal provisions</a:t>
                      </a:r>
                    </a:p>
                  </a:txBody>
                  <a:tcPr>
                    <a:solidFill>
                      <a:srgbClr val="173B3F"/>
                    </a:solidFill>
                  </a:tcPr>
                </a:tc>
                <a:tc>
                  <a:txBody>
                    <a:bodyPr/>
                    <a:lstStyle/>
                    <a:p>
                      <a:r>
                        <a:rPr b="1" sz="1000">
                          <a:solidFill>
                            <a:srgbClr val="FFFFFF"/>
                          </a:solidFill>
                        </a:rPr>
                        <a:t>Key evidence / status</a:t>
                      </a:r>
                    </a:p>
                  </a:txBody>
                  <a:tcPr>
                    <a:solidFill>
                      <a:srgbClr val="173B3F"/>
                    </a:solidFill>
                  </a:tcPr>
                </a:tc>
              </a:tr>
              <a:tr h="822960">
                <a:tc>
                  <a:txBody>
                    <a:bodyPr/>
                    <a:lstStyle/>
                    <a:p>
                      <a:pPr>
                        <a:defRPr sz="900"/>
                      </a:pPr>
                      <a:r>
                        <a:t>FIR_02_kidnapping.pdf</a:t>
                      </a:r>
                    </a:p>
                  </a:txBody>
                  <a:tcPr/>
                </a:tc>
                <a:tc>
                  <a:txBody>
                    <a:bodyPr/>
                    <a:lstStyle/>
                    <a:p>
                      <a:pPr>
                        <a:defRPr sz="900"/>
                      </a:pPr>
                      <a:r>
                        <a:t>Kidnapping / ransom</a:t>
                      </a:r>
                    </a:p>
                  </a:txBody>
                  <a:tcPr/>
                </a:tc>
                <a:tc>
                  <a:txBody>
                    <a:bodyPr/>
                    <a:lstStyle/>
                    <a:p>
                      <a:pPr>
                        <a:defRPr sz="900"/>
                      </a:pPr>
                      <a:r>
                        <a:t>Legal Action: The case has been formally registered under § 365-A and § 7.</a:t>
                      </a:r>
                    </a:p>
                  </a:txBody>
                  <a:tcPr/>
                </a:tc>
                <a:tc>
                  <a:txBody>
                    <a:bodyPr/>
                    <a:lstStyle/>
                    <a:p>
                      <a:pPr>
                        <a:defRPr sz="900"/>
                      </a:pPr>
                      <a:r>
                        <a:t>Evidence and Investigative Action: Call Data Records (CDR) analysis has been initiated through PTA for the unregistered SIM use...</a:t>
                      </a:r>
                    </a:p>
                  </a:txBody>
                  <a:tcPr/>
                </a:tc>
              </a:tr>
              <a:tr h="822960">
                <a:tc>
                  <a:txBody>
                    <a:bodyPr/>
                    <a:lstStyle/>
                    <a:p>
                      <a:pPr>
                        <a:defRPr sz="900"/>
                      </a:pPr>
                      <a:r>
                        <a:t>FIR_03_robbery.pdf</a:t>
                      </a:r>
                    </a:p>
                  </a:txBody>
                  <a:tcPr/>
                </a:tc>
                <a:tc>
                  <a:txBody>
                    <a:bodyPr/>
                    <a:lstStyle/>
                    <a:p>
                      <a:pPr>
                        <a:defRPr sz="900"/>
                      </a:pPr>
                      <a:r>
                        <a:t>Robbery</a:t>
                      </a:r>
                    </a:p>
                  </a:txBody>
                  <a:tcPr/>
                </a:tc>
                <a:tc>
                  <a:txBody>
                    <a:bodyPr/>
                    <a:lstStyle/>
                    <a:p>
                      <a:pPr>
                        <a:defRPr sz="900"/>
                      </a:pPr>
                      <a:r>
                        <a:t>Legal Action: The case has been formally registered under § 392 and § 397.</a:t>
                      </a:r>
                    </a:p>
                  </a:txBody>
                  <a:tcPr/>
                </a:tc>
                <a:tc>
                  <a:txBody>
                    <a:bodyPr/>
                    <a:lstStyle/>
                    <a:p>
                      <a:pPr>
                        <a:defRPr sz="900"/>
                      </a:pPr>
                      <a:r>
                        <a:t>Evidence and Investigative Action: CCTV footage has been secured from three cameras along Khayaban-e-Iqbal including a Sindh Sa...</a:t>
                      </a:r>
                    </a:p>
                  </a:txBody>
                  <a:tcPr/>
                </a:tc>
              </a:tr>
              <a:tr h="822960">
                <a:tc>
                  <a:txBody>
                    <a:bodyPr/>
                    <a:lstStyle/>
                    <a:p>
                      <a:pPr>
                        <a:defRPr sz="900"/>
                      </a:pPr>
                      <a:r>
                        <a:t>FIR_04_cybercrime.pdf</a:t>
                      </a:r>
                    </a:p>
                  </a:txBody>
                  <a:tcPr/>
                </a:tc>
                <a:tc>
                  <a:txBody>
                    <a:bodyPr/>
                    <a:lstStyle/>
                    <a:p>
                      <a:pPr>
                        <a:defRPr sz="900"/>
                      </a:pPr>
                      <a:r>
                        <a:t>Cyber stalking / cheating by personation</a:t>
                      </a:r>
                    </a:p>
                  </a:txBody>
                  <a:tcPr/>
                </a:tc>
                <a:tc>
                  <a:txBody>
                    <a:bodyPr/>
                    <a:lstStyle/>
                    <a:p>
                      <a:pPr>
                        <a:defRPr sz="900"/>
                      </a:pPr>
                      <a:r>
                        <a:t>Legal Action and Current Status: This FIR is registered under Section 24 of the Prevention of Electronic Crimes Act 2016 (Cyber...</a:t>
                      </a:r>
                    </a:p>
                  </a:txBody>
                  <a:tcPr/>
                </a:tc>
                <a:tc>
                  <a:txBody>
                    <a:bodyPr/>
                    <a:lstStyle/>
                    <a:p>
                      <a:pPr>
                        <a:defRPr sz="900"/>
                      </a:pPr>
                      <a:r>
                        <a:t>Digital Evidence and Investigative Action: The FIA Cyber Crime Wing has obtained preservation orders from Meta Platforms Inc.</a:t>
                      </a:r>
                    </a:p>
                  </a:txBody>
                  <a:tcPr/>
                </a:tc>
              </a:tr>
              <a:tr h="822960">
                <a:tc>
                  <a:txBody>
                    <a:bodyPr/>
                    <a:lstStyle/>
                    <a:p>
                      <a:pPr>
                        <a:defRPr sz="900"/>
                      </a:pPr>
                      <a:r>
                        <a:t>FIR_05_narcotics.pdf</a:t>
                      </a:r>
                    </a:p>
                  </a:txBody>
                  <a:tcPr/>
                </a:tc>
                <a:tc>
                  <a:txBody>
                    <a:bodyPr/>
                    <a:lstStyle/>
                    <a:p>
                      <a:pPr>
                        <a:defRPr sz="900"/>
                      </a:pPr>
                      <a:r>
                        <a:t>Narcotics trafficking</a:t>
                      </a:r>
                    </a:p>
                  </a:txBody>
                  <a:tcPr/>
                </a:tc>
                <a:tc>
                  <a:txBody>
                    <a:bodyPr/>
                    <a:lstStyle/>
                    <a:p>
                      <a:pPr>
                        <a:defRPr sz="900"/>
                      </a:pPr>
                      <a:r>
                        <a:t>Legal Action: The case has been formally registered under § 9(c) and § 15.</a:t>
                      </a:r>
                    </a:p>
                  </a:txBody>
                  <a:tcPr/>
                </a:tc>
                <a:tc>
                  <a:txBody>
                    <a:bodyPr/>
                    <a:lstStyle/>
                    <a:p>
                      <a:pPr>
                        <a:defRPr sz="900"/>
                      </a:pPr>
                      <a:r>
                        <a:t>Legal Action and Current Status: This FIR is registered under Section 9(c) of the Control of Narcotic Substances Act 1997 (poss...</a:t>
                      </a:r>
                    </a:p>
                  </a:txBody>
                  <a:tcPr/>
                </a:tc>
              </a:tr>
              <a:tr h="822960">
                <a:tc>
                  <a:txBody>
                    <a:bodyPr/>
                    <a:lstStyle/>
                    <a:p>
                      <a:pPr>
                        <a:defRPr sz="900"/>
                      </a:pPr>
                      <a:r>
                        <a:t>FIR_fictitious.pdf</a:t>
                      </a:r>
                    </a:p>
                  </a:txBody>
                  <a:tcPr/>
                </a:tc>
                <a:tc>
                  <a:txBody>
                    <a:bodyPr/>
                    <a:lstStyle/>
                    <a:p>
                      <a:pPr>
                        <a:defRPr sz="900"/>
                      </a:pPr>
                      <a:r>
                        <a:t>Murder / homicide</a:t>
                      </a:r>
                    </a:p>
                  </a:txBody>
                  <a:tcPr/>
                </a:tc>
                <a:tc>
                  <a:txBody>
                    <a:bodyPr/>
                    <a:lstStyle/>
                    <a:p>
                      <a:pPr>
                        <a:defRPr sz="900"/>
                      </a:pPr>
                      <a:r>
                        <a:t>Legal Action and Investigation Status: On the basis of the complainant's sworn statement, eyewitness accounts, medico-legal fin...</a:t>
                      </a:r>
                    </a:p>
                  </a:txBody>
                  <a:tcPr/>
                </a:tc>
                <a:tc>
                  <a:txBody>
                    <a:bodyPr/>
                    <a:lstStyle/>
                    <a:p>
                      <a:pPr>
                        <a:defRPr sz="900"/>
                      </a:pPr>
                      <a:r>
                        <a:t>Forensic and Physical Evidence: Post-Mortem Examination was conducted by Dr.</a:t>
                      </a:r>
                    </a:p>
                  </a:txBody>
                  <a:tcPr/>
                </a:tc>
              </a:tr>
            </a:tbl>
          </a:graphicData>
        </a:graphic>
      </p:graphicFrame>
      <p:sp>
        <p:nvSpPr>
          <p:cNvPr id="4" name="TextBox 3"/>
          <p:cNvSpPr txBox="1"/>
          <p:nvPr/>
        </p:nvSpPr>
        <p:spPr>
          <a:xfrm>
            <a:off x="640080" y="6236208"/>
            <a:ext cx="10789920" cy="228600"/>
          </a:xfrm>
          <a:prstGeom prst="rect">
            <a:avLst/>
          </a:prstGeom>
          <a:noFill/>
        </p:spPr>
        <p:txBody>
          <a:bodyPr wrap="square">
            <a:spAutoFit/>
          </a:bodyPr>
          <a:lstStyle/>
          <a:p>
            <a:pPr>
              <a:defRPr sz="800" b="0">
                <a:solidFill>
                  <a:srgbClr val="53676A"/>
                </a:solidFill>
                <a:latin typeface="Aptos"/>
              </a:defRPr>
            </a:pPr>
            <a:r>
              <a:t>Sources: FIR_02_kidnapping.pdf, p. 1; FIR_03_robbery.pdf, p. 1; FIR_04_cybercrime.pdf, p. 1; FIR_05_narcotics.pdf, p. 1; FIR_05_narcotics.pdf, p. 2; +1 more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8"/>
        </a:solidFill>
        <a:effectLst/>
      </p:bgPr>
    </p:bg>
    <p:spTree>
      <p:nvGrpSpPr>
        <p:cNvPr id="1" name=""/>
        <p:cNvGrpSpPr/>
        <p:nvPr/>
      </p:nvGrpSpPr>
      <p:grpSpPr/>
      <p:sp>
        <p:nvSpPr>
          <p:cNvPr id="2" name="TextBox 1"/>
          <p:cNvSpPr txBox="1"/>
          <p:nvPr/>
        </p:nvSpPr>
        <p:spPr>
          <a:xfrm>
            <a:off x="594360" y="274320"/>
            <a:ext cx="10972800" cy="502920"/>
          </a:xfrm>
          <a:prstGeom prst="rect">
            <a:avLst/>
          </a:prstGeom>
          <a:noFill/>
        </p:spPr>
        <p:txBody>
          <a:bodyPr wrap="square">
            <a:spAutoFit/>
          </a:bodyPr>
          <a:lstStyle/>
          <a:p>
            <a:pPr>
              <a:defRPr sz="2300" b="1">
                <a:solidFill>
                  <a:srgbClr val="173B3F"/>
                </a:solidFill>
                <a:latin typeface="Aptos"/>
              </a:defRPr>
            </a:pPr>
            <a:r>
              <a:t>References</a:t>
            </a:r>
          </a:p>
        </p:txBody>
      </p:sp>
      <p:sp>
        <p:nvSpPr>
          <p:cNvPr id="3" name="TextBox 2"/>
          <p:cNvSpPr txBox="1"/>
          <p:nvPr/>
        </p:nvSpPr>
        <p:spPr>
          <a:xfrm>
            <a:off x="822960" y="1051560"/>
            <a:ext cx="10515600" cy="4892040"/>
          </a:xfrm>
          <a:prstGeom prst="rect">
            <a:avLst/>
          </a:prstGeom>
          <a:noFill/>
        </p:spPr>
        <p:txBody>
          <a:bodyPr wrap="square">
            <a:spAutoFit/>
          </a:bodyPr>
          <a:lstStyle/>
          <a:p>
            <a:pPr>
              <a:spcAft>
                <a:spcPts val="800"/>
              </a:spcAft>
              <a:defRPr sz="1200">
                <a:latin typeface="Aptos"/>
              </a:defRPr>
            </a:pPr>
            <a:r>
              <a:t>[1] FIR_04_cybercrime.pdf, page 1 (2a65950f-c76c-4508-841a-bea64ee31f88:2a65950f-c76c-4508-841a-bea64ee31f88:13)</a:t>
            </a:r>
          </a:p>
          <a:p>
            <a:pPr>
              <a:spcAft>
                <a:spcPts val="800"/>
              </a:spcAft>
              <a:defRPr sz="1200">
                <a:latin typeface="Aptos"/>
              </a:defRPr>
            </a:pPr>
            <a:r>
              <a:t>[2] FIR_05_narcotics.pdf, page 1 (081605ee-51d4-4332-bcc0-c80907ed18c2:081605ee-51d4-4332-bcc0-c80907ed18c2:8)</a:t>
            </a:r>
          </a:p>
          <a:p>
            <a:pPr>
              <a:spcAft>
                <a:spcPts val="800"/>
              </a:spcAft>
              <a:defRPr sz="1200">
                <a:latin typeface="Aptos"/>
              </a:defRPr>
            </a:pPr>
            <a:r>
              <a:t>[3] FIR_fictitious.pdf, page 1 (8ab31795-428d-4b0c-a7c3-3c0870e6bdda:8ab31795-428d-4b0c-a7c3-3c0870e6bdda:12)</a:t>
            </a:r>
          </a:p>
          <a:p>
            <a:pPr>
              <a:spcAft>
                <a:spcPts val="800"/>
              </a:spcAft>
              <a:defRPr sz="1200">
                <a:latin typeface="Aptos"/>
              </a:defRPr>
            </a:pPr>
            <a:r>
              <a:t>[4] FIR_05_narcotics.pdf, page 1 (081605ee-51d4-4332-bcc0-c80907ed18c2:081605ee-51d4-4332-bcc0-c80907ed18c2:10)</a:t>
            </a:r>
          </a:p>
          <a:p>
            <a:pPr>
              <a:spcAft>
                <a:spcPts val="800"/>
              </a:spcAft>
              <a:defRPr sz="1200">
                <a:latin typeface="Aptos"/>
              </a:defRPr>
            </a:pPr>
            <a:r>
              <a:t>[5] FIR_05_narcotics.pdf, page 1 (081605ee-51d4-4332-bcc0-c80907ed18c2:081605ee-51d4-4332-bcc0-c80907ed18c2:12)</a:t>
            </a:r>
          </a:p>
          <a:p>
            <a:pPr>
              <a:spcAft>
                <a:spcPts val="800"/>
              </a:spcAft>
              <a:defRPr sz="1200">
                <a:latin typeface="Aptos"/>
              </a:defRPr>
            </a:pPr>
            <a:r>
              <a:t>[6] FIR_05_narcotics.pdf, page 2 (081605ee-51d4-4332-bcc0-c80907ed18c2:081605ee-51d4-4332-bcc0-c80907ed18c2:13)</a:t>
            </a:r>
          </a:p>
          <a:p>
            <a:pPr>
              <a:spcAft>
                <a:spcPts val="800"/>
              </a:spcAft>
              <a:defRPr sz="1200">
                <a:latin typeface="Aptos"/>
              </a:defRPr>
            </a:pPr>
            <a:r>
              <a:t>[7] FIR_02_kidnapping.pdf, page 1 (b3c0c858-de65-4eeb-b325-1fae34403941:b3c0c858-de65-4eeb-b325-1fae34403941:15)</a:t>
            </a:r>
          </a:p>
          <a:p>
            <a:pPr>
              <a:spcAft>
                <a:spcPts val="800"/>
              </a:spcAft>
              <a:defRPr sz="1200">
                <a:latin typeface="Aptos"/>
              </a:defRPr>
            </a:pPr>
            <a:r>
              <a:t>[8] FIR_04_cybercrime.pdf, page 1 (2a65950f-c76c-4508-841a-bea64ee31f88:2a65950f-c76c-4508-841a-bea64ee31f88:12)</a:t>
            </a:r>
          </a:p>
          <a:p>
            <a:pPr>
              <a:spcAft>
                <a:spcPts val="800"/>
              </a:spcAft>
              <a:defRPr sz="1200">
                <a:latin typeface="Aptos"/>
              </a:defRPr>
            </a:pPr>
            <a:r>
              <a:t>[9] FIR_fictitious.pdf, page 1 (8ab31795-428d-4b0c-a7c3-3c0870e6bdda:8ab31795-428d-4b0c-a7c3-3c0870e6bdda:15)</a:t>
            </a:r>
          </a:p>
          <a:p>
            <a:pPr>
              <a:spcAft>
                <a:spcPts val="800"/>
              </a:spcAft>
              <a:defRPr sz="1200">
                <a:latin typeface="Aptos"/>
              </a:defRPr>
            </a:pPr>
            <a:r>
              <a:t>[10] FIR_fictitious.pdf, page 1 (8ab31795-428d-4b0c-a7c3-3c0870e6bdda:8ab31795-428d-4b0c-a7c3-3c0870e6bdda:14)</a:t>
            </a:r>
          </a:p>
          <a:p>
            <a:pPr>
              <a:spcAft>
                <a:spcPts val="800"/>
              </a:spcAft>
              <a:defRPr sz="1200">
                <a:latin typeface="Aptos"/>
              </a:defRPr>
            </a:pPr>
            <a:r>
              <a:t>[11] FIR_03_robbery.pdf, page 1 (144be8c1-5394-4609-beda-55b738ccc36d:144be8c1-5394-4609-beda-55b738ccc36d:12)</a:t>
            </a:r>
          </a:p>
          <a:p>
            <a:pPr>
              <a:spcAft>
                <a:spcPts val="800"/>
              </a:spcAft>
              <a:defRPr sz="1200">
                <a:latin typeface="Aptos"/>
              </a:defRPr>
            </a:pPr>
            <a:r>
              <a:t>[12] FIR_05_narcotics.pdf, page 1 (081605ee-51d4-4332-bcc0-c80907ed18c2:081605ee-51d4-4332-bcc0-c80907ed18c2:5)</a:t>
            </a:r>
          </a:p>
          <a:p>
            <a:pPr>
              <a:spcAft>
                <a:spcPts val="800"/>
              </a:spcAft>
              <a:defRPr sz="1200">
                <a:latin typeface="Aptos"/>
              </a:defRPr>
            </a:pPr>
            <a:r>
              <a:t>[13] FIR_05_narcotics.pdf, page 1 (081605ee-51d4-4332-bcc0-c80907ed18c2:081605ee-51d4-4332-bcc0-c80907ed18c2:3)</a:t>
            </a:r>
          </a:p>
          <a:p>
            <a:pPr>
              <a:spcAft>
                <a:spcPts val="800"/>
              </a:spcAft>
              <a:defRPr sz="1200">
                <a:latin typeface="Aptos"/>
              </a:defRPr>
            </a:pPr>
            <a:r>
              <a:t>[14] FIR_03_robbery.pdf, page 1 (144be8c1-5394-4609-beda-55b738ccc36d:144be8c1-5394-4609-beda-55b738ccc36d:1)</a:t>
            </a:r>
          </a:p>
          <a:p>
            <a:pPr>
              <a:spcAft>
                <a:spcPts val="800"/>
              </a:spcAft>
              <a:defRPr sz="1200">
                <a:latin typeface="Aptos"/>
              </a:defRPr>
            </a:pPr>
            <a:r>
              <a:t>[15] FIR_03_robbery.pdf, page 1 (144be8c1-5394-4609-beda-55b738ccc36d:144be8c1-5394-4609-beda-55b738ccc36d:15)</a:t>
            </a:r>
          </a:p>
          <a:p>
            <a:pPr>
              <a:spcAft>
                <a:spcPts val="800"/>
              </a:spcAft>
              <a:defRPr sz="1200">
                <a:latin typeface="Aptos"/>
              </a:defRPr>
            </a:pPr>
            <a:r>
              <a:t>[16] FIR_02_kidnapping.pdf, page 1 (b3c0c858-de65-4eeb-b325-1fae34403941:b3c0c858-de65-4eeb-b325-1fae34403941:4)</a:t>
            </a:r>
          </a:p>
          <a:p>
            <a:pPr>
              <a:spcAft>
                <a:spcPts val="800"/>
              </a:spcAft>
              <a:defRPr sz="1200">
                <a:latin typeface="Aptos"/>
              </a:defRPr>
            </a:pPr>
            <a:r>
              <a:t>[17] FIR_03_robbery.pdf, page 1 (144be8c1-5394-4609-beda-55b738ccc36d:144be8c1-5394-4609-beda-55b738ccc36d:3)</a:t>
            </a:r>
          </a:p>
          <a:p>
            <a:pPr>
              <a:spcAft>
                <a:spcPts val="800"/>
              </a:spcAft>
              <a:defRPr sz="1200">
                <a:latin typeface="Aptos"/>
              </a:defRPr>
            </a:pPr>
            <a:r>
              <a:t>[18] FIR_02_kidnapping.pdf, page 1 (b3c0c858-de65-4eeb-b325-1fae34403941:b3c0c858-de65-4eeb-b325-1fae34403941:18)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