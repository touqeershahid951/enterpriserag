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B3F"/>
        </a:solidFill>
        <a:effectLst/>
      </p:bgPr>
    </p:bg>
    <p:spTree>
      <p:nvGrpSpPr>
        <p:cNvPr id="1" name=""/>
        <p:cNvGrpSpPr/>
        <p:nvPr/>
      </p:nvGrpSpPr>
      <p:grpSpPr/>
      <p:sp>
        <p:nvSpPr>
          <p:cNvPr id="2" name="TextBox 1"/>
          <p:cNvSpPr txBox="1"/>
          <p:nvPr/>
        </p:nvSpPr>
        <p:spPr>
          <a:xfrm>
            <a:off x="731520" y="1143000"/>
            <a:ext cx="10698480" cy="1325880"/>
          </a:xfrm>
          <a:prstGeom prst="rect">
            <a:avLst/>
          </a:prstGeom>
          <a:noFill/>
        </p:spPr>
        <p:txBody>
          <a:bodyPr wrap="square">
            <a:spAutoFit/>
          </a:bodyPr>
          <a:lstStyle/>
          <a:p>
            <a:pPr>
              <a:defRPr sz="3000" b="1">
                <a:solidFill>
                  <a:srgbClr val="FFFFFF"/>
                </a:solidFill>
                <a:latin typeface="Aptos"/>
              </a:defRPr>
            </a:pPr>
            <a:r>
              <a:t>Details Of All The Crimes In All The FIRs</a:t>
            </a:r>
          </a:p>
        </p:txBody>
      </p:sp>
      <p:sp>
        <p:nvSpPr>
          <p:cNvPr id="3" name="TextBox 2"/>
          <p:cNvSpPr txBox="1"/>
          <p:nvPr/>
        </p:nvSpPr>
        <p:spPr>
          <a:xfrm>
            <a:off x="777240" y="2697480"/>
            <a:ext cx="9875520" cy="731520"/>
          </a:xfrm>
          <a:prstGeom prst="rect">
            <a:avLst/>
          </a:prstGeom>
          <a:noFill/>
        </p:spPr>
        <p:txBody>
          <a:bodyPr wrap="square">
            <a:spAutoFit/>
          </a:bodyPr>
          <a:lstStyle/>
          <a:p>
            <a:pPr>
              <a:defRPr sz="1600" b="0">
                <a:solidFill>
                  <a:srgbClr val="D6E4E5"/>
                </a:solidFill>
                <a:latin typeface="Aptos"/>
              </a:defRPr>
            </a:pPr>
            <a:r>
              <a:t>Presentation for General business audience</a:t>
            </a:r>
          </a:p>
        </p:txBody>
      </p:sp>
      <p:sp>
        <p:nvSpPr>
          <p:cNvPr id="4" name="TextBox 3"/>
          <p:cNvSpPr txBox="1"/>
          <p:nvPr/>
        </p:nvSpPr>
        <p:spPr>
          <a:xfrm>
            <a:off x="777240" y="6035040"/>
            <a:ext cx="2743200" cy="228600"/>
          </a:xfrm>
          <a:prstGeom prst="rect">
            <a:avLst/>
          </a:prstGeom>
          <a:noFill/>
        </p:spPr>
        <p:txBody>
          <a:bodyPr wrap="square">
            <a:spAutoFit/>
          </a:bodyPr>
          <a:lstStyle/>
          <a:p>
            <a:pPr>
              <a:defRPr sz="1000" b="0">
                <a:solidFill>
                  <a:srgbClr val="AFC7C9"/>
                </a:solidFill>
                <a:latin typeface="Aptos"/>
              </a:defRPr>
            </a:pPr>
            <a:r>
              <a:t>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594360" y="256032"/>
            <a:ext cx="10972800" cy="640080"/>
          </a:xfrm>
          <a:prstGeom prst="rect">
            <a:avLst/>
          </a:prstGeom>
          <a:noFill/>
        </p:spPr>
        <p:txBody>
          <a:bodyPr wrap="square">
            <a:spAutoFit/>
          </a:bodyPr>
          <a:lstStyle/>
          <a:p>
            <a:pPr>
              <a:defRPr sz="2300" b="1">
                <a:solidFill>
                  <a:srgbClr val="173B3F"/>
                </a:solidFill>
                <a:latin typeface="Aptos"/>
              </a:defRPr>
            </a:pPr>
            <a:r>
              <a:t>Summary (1/3)</a:t>
            </a:r>
          </a:p>
        </p:txBody>
      </p:sp>
      <p:sp>
        <p:nvSpPr>
          <p:cNvPr id="3" name="TextBox 2"/>
          <p:cNvSpPr txBox="1"/>
          <p:nvPr/>
        </p:nvSpPr>
        <p:spPr>
          <a:xfrm>
            <a:off x="822960" y="1051560"/>
            <a:ext cx="10515600" cy="4892040"/>
          </a:xfrm>
          <a:prstGeom prst="rect">
            <a:avLst/>
          </a:prstGeom>
          <a:noFill/>
        </p:spPr>
        <p:txBody>
          <a:bodyPr wrap="square">
            <a:spAutoFit/>
          </a:bodyPr>
          <a:lstStyle/>
          <a:p>
            <a:pPr>
              <a:spcAft>
                <a:spcPts val="800"/>
              </a:spcAft>
              <a:defRPr sz="1300">
                <a:latin typeface="Aptos"/>
              </a:defRPr>
            </a:pPr>
            <a:r>
              <a:t>This summary details the key information regarding the crimes, evidence, and legal actions across five distinct First Information Reports (FIRs). The cases range from violent crimes and cyber fraud to narcotics trafficking and kidnapping, each involving specific forensic, digital, or physical evidence and designated...</a:t>
            </a:r>
          </a:p>
          <a:p>
            <a:pPr>
              <a:spcAft>
                <a:spcPts val="800"/>
              </a:spcAft>
              <a:defRPr sz="1300">
                <a:latin typeface="Aptos"/>
              </a:defRPr>
            </a:pPr>
            <a:r>
              <a:t>FIR 01 (FIR_fictitious.pdf): Registered under Sections 302 and 34 PPC for Qatl-e-Amd (murder). The victim died from haemorrhagic shock due to stab wounds. Evidence includes a blood-stained knife (Exhibit A/1), CCTV footage from Bank Alfalah ATM, and a post-mortem by Dr. Asma Noor. Investigating Officer: DSP Muhammad...</a:t>
            </a:r>
          </a:p>
        </p:txBody>
      </p:sp>
      <p:sp>
        <p:nvSpPr>
          <p:cNvPr id="4" name="TextBox 3"/>
          <p:cNvSpPr txBox="1"/>
          <p:nvPr/>
        </p:nvSpPr>
        <p:spPr>
          <a:xfrm>
            <a:off x="640080" y="6236208"/>
            <a:ext cx="10789920" cy="228600"/>
          </a:xfrm>
          <a:prstGeom prst="rect">
            <a:avLst/>
          </a:prstGeom>
          <a:noFill/>
        </p:spPr>
        <p:txBody>
          <a:bodyPr wrap="square">
            <a:spAutoFit/>
          </a:bodyPr>
          <a:lstStyle/>
          <a:p>
            <a:pPr>
              <a:defRPr sz="800" b="0">
                <a:solidFill>
                  <a:srgbClr val="53676A"/>
                </a:solidFill>
                <a:latin typeface="Aptos"/>
              </a:defRPr>
            </a:pPr>
            <a:r>
              <a:t>Sources: FIR_fictitious.pdf, p. 1; FIR_04_cybercrime.pdf, p. 1; FIR_05_narcotics.pdf, p. 1; FIR_03_robbery.pdf, p. 1; FIR_02_kidnapping.pdf, p.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594360" y="256032"/>
            <a:ext cx="10972800" cy="640080"/>
          </a:xfrm>
          <a:prstGeom prst="rect">
            <a:avLst/>
          </a:prstGeom>
          <a:noFill/>
        </p:spPr>
        <p:txBody>
          <a:bodyPr wrap="square">
            <a:spAutoFit/>
          </a:bodyPr>
          <a:lstStyle/>
          <a:p>
            <a:pPr>
              <a:defRPr sz="2300" b="1">
                <a:solidFill>
                  <a:srgbClr val="173B3F"/>
                </a:solidFill>
                <a:latin typeface="Aptos"/>
              </a:defRPr>
            </a:pPr>
            <a:r>
              <a:t>Summary (2/3)</a:t>
            </a:r>
          </a:p>
        </p:txBody>
      </p:sp>
      <p:sp>
        <p:nvSpPr>
          <p:cNvPr id="3" name="TextBox 2"/>
          <p:cNvSpPr txBox="1"/>
          <p:nvPr/>
        </p:nvSpPr>
        <p:spPr>
          <a:xfrm>
            <a:off x="822960" y="1051560"/>
            <a:ext cx="10515600" cy="4892040"/>
          </a:xfrm>
          <a:prstGeom prst="rect">
            <a:avLst/>
          </a:prstGeom>
          <a:noFill/>
        </p:spPr>
        <p:txBody>
          <a:bodyPr wrap="square">
            <a:spAutoFit/>
          </a:bodyPr>
          <a:lstStyle/>
          <a:p>
            <a:pPr>
              <a:spcAft>
                <a:spcPts val="800"/>
              </a:spcAft>
              <a:defRPr sz="1300">
                <a:latin typeface="Aptos"/>
              </a:defRPr>
            </a:pPr>
            <a:r>
              <a:t>FIR 02 (FIR_02_kidnapping.pdf): Registered under Section 365-A PPC (Kidnapping for Ransom) and Section 7 of the Anti-Terrorism Act 1997. A Special Investigation Team (SIT) led by SP Khalid Mehmood Awan is active. Evidence includes CDR analysis of an unregistered SIM and tracing of vehicle RWP-4421.</a:t>
            </a:r>
          </a:p>
          <a:p>
            <a:pPr>
              <a:spcAft>
                <a:spcPts val="800"/>
              </a:spcAft>
              <a:defRPr sz="1300">
                <a:latin typeface="Aptos"/>
              </a:defRPr>
            </a:pPr>
            <a:r>
              <a:t>FIR 03 (FIR_03_robbery.pdf): Registered under Sections 392 and 397 PPC for Robbery with use of a firearm. The accused, Imran Zafar alias Kala, snatched a handbag and iPhone from Nadia Farooq Sheikh. Evidence includes CCTV footage, a spent 9mm cartridge (Exhibit A/1), and prior criminal records. Investigating Officer...</a:t>
            </a:r>
          </a:p>
        </p:txBody>
      </p:sp>
      <p:sp>
        <p:nvSpPr>
          <p:cNvPr id="4" name="TextBox 3"/>
          <p:cNvSpPr txBox="1"/>
          <p:nvPr/>
        </p:nvSpPr>
        <p:spPr>
          <a:xfrm>
            <a:off x="640080" y="6236208"/>
            <a:ext cx="10789920" cy="228600"/>
          </a:xfrm>
          <a:prstGeom prst="rect">
            <a:avLst/>
          </a:prstGeom>
          <a:noFill/>
        </p:spPr>
        <p:txBody>
          <a:bodyPr wrap="square">
            <a:spAutoFit/>
          </a:bodyPr>
          <a:lstStyle/>
          <a:p>
            <a:pPr>
              <a:defRPr sz="800" b="0">
                <a:solidFill>
                  <a:srgbClr val="53676A"/>
                </a:solidFill>
                <a:latin typeface="Aptos"/>
              </a:defRPr>
            </a:pPr>
            <a:r>
              <a:t>Sources: FIR_fictitious.pdf, p. 1; FIR_04_cybercrime.pdf, p. 1; FIR_05_narcotics.pdf, p. 1; FIR_03_robbery.pdf, p. 1; FIR_02_kidnapping.pdf, p. 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594360" y="256032"/>
            <a:ext cx="10972800" cy="640080"/>
          </a:xfrm>
          <a:prstGeom prst="rect">
            <a:avLst/>
          </a:prstGeom>
          <a:noFill/>
        </p:spPr>
        <p:txBody>
          <a:bodyPr wrap="square">
            <a:spAutoFit/>
          </a:bodyPr>
          <a:lstStyle/>
          <a:p>
            <a:pPr>
              <a:defRPr sz="2300" b="1">
                <a:solidFill>
                  <a:srgbClr val="173B3F"/>
                </a:solidFill>
                <a:latin typeface="Aptos"/>
              </a:defRPr>
            </a:pPr>
            <a:r>
              <a:t>Summary (3/3)</a:t>
            </a:r>
          </a:p>
        </p:txBody>
      </p:sp>
      <p:sp>
        <p:nvSpPr>
          <p:cNvPr id="3" name="TextBox 2"/>
          <p:cNvSpPr txBox="1"/>
          <p:nvPr/>
        </p:nvSpPr>
        <p:spPr>
          <a:xfrm>
            <a:off x="822960" y="1051560"/>
            <a:ext cx="10515600" cy="4892040"/>
          </a:xfrm>
          <a:prstGeom prst="rect">
            <a:avLst/>
          </a:prstGeom>
          <a:noFill/>
        </p:spPr>
        <p:txBody>
          <a:bodyPr wrap="square">
            <a:spAutoFit/>
          </a:bodyPr>
          <a:lstStyle/>
          <a:p>
            <a:pPr>
              <a:spcAft>
                <a:spcPts val="800"/>
              </a:spcAft>
              <a:defRPr sz="1300">
                <a:latin typeface="Aptos"/>
              </a:defRPr>
            </a:pPr>
            <a:r>
              <a:t>FIR 04 (FIR_04_cybercrime.pdf): Registered under Section 24 of the Prevention of Electronic Crimes Act 2016 and Section 419 PPC for cyber stalking and cheating by personation. The FIA Cyber Crime Wing obtained preservation orders from Meta and EasyPaisa/Telenor. Six victims were recorded as prosecution witnesses. In...</a:t>
            </a:r>
          </a:p>
          <a:p>
            <a:pPr>
              <a:spcAft>
                <a:spcPts val="800"/>
              </a:spcAft>
              <a:defRPr sz="1300">
                <a:latin typeface="Aptos"/>
              </a:defRPr>
            </a:pPr>
            <a:r>
              <a:t>FIR 05 (FIR_05_narcotics.pdf): Registered under Section 9(c) and Section 15 of the Control of Narcotic Substances Act 1997 for possession and trafficking of 18.5 kg of heroin. The accused, Shaukat Ali Mohmand, was intercepted at a checkpoint. Evidence includes 18 sealed packets (Exhibits ANF/KPK/2024/11/001-018) and...</a:t>
            </a:r>
          </a:p>
        </p:txBody>
      </p:sp>
      <p:sp>
        <p:nvSpPr>
          <p:cNvPr id="4" name="TextBox 3"/>
          <p:cNvSpPr txBox="1"/>
          <p:nvPr/>
        </p:nvSpPr>
        <p:spPr>
          <a:xfrm>
            <a:off x="640080" y="6236208"/>
            <a:ext cx="10789920" cy="228600"/>
          </a:xfrm>
          <a:prstGeom prst="rect">
            <a:avLst/>
          </a:prstGeom>
          <a:noFill/>
        </p:spPr>
        <p:txBody>
          <a:bodyPr wrap="square">
            <a:spAutoFit/>
          </a:bodyPr>
          <a:lstStyle/>
          <a:p>
            <a:pPr>
              <a:defRPr sz="800" b="0">
                <a:solidFill>
                  <a:srgbClr val="53676A"/>
                </a:solidFill>
                <a:latin typeface="Aptos"/>
              </a:defRPr>
            </a:pPr>
            <a:r>
              <a:t>Sources: FIR_fictitious.pdf, p. 1; FIR_04_cybercrime.pdf, p. 1; FIR_05_narcotics.pdf, p. 1; FIR_03_robbery.pdf, p. 1; FIR_02_kidnapping.pdf, p. 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594360" y="256032"/>
            <a:ext cx="10972800" cy="640080"/>
          </a:xfrm>
          <a:prstGeom prst="rect">
            <a:avLst/>
          </a:prstGeom>
          <a:noFill/>
        </p:spPr>
        <p:txBody>
          <a:bodyPr wrap="square">
            <a:spAutoFit/>
          </a:bodyPr>
          <a:lstStyle/>
          <a:p>
            <a:pPr>
              <a:defRPr sz="2300" b="1">
                <a:solidFill>
                  <a:srgbClr val="173B3F"/>
                </a:solidFill>
                <a:latin typeface="Aptos"/>
              </a:defRPr>
            </a:pPr>
            <a:r>
              <a:t>Details (1/2)</a:t>
            </a:r>
          </a:p>
        </p:txBody>
      </p:sp>
      <p:sp>
        <p:nvSpPr>
          <p:cNvPr id="3" name="TextBox 2"/>
          <p:cNvSpPr txBox="1"/>
          <p:nvPr/>
        </p:nvSpPr>
        <p:spPr>
          <a:xfrm>
            <a:off x="822960" y="1051560"/>
            <a:ext cx="10515600" cy="4892040"/>
          </a:xfrm>
          <a:prstGeom prst="rect">
            <a:avLst/>
          </a:prstGeom>
          <a:noFill/>
        </p:spPr>
        <p:txBody>
          <a:bodyPr wrap="square">
            <a:spAutoFit/>
          </a:bodyPr>
          <a:lstStyle/>
          <a:p>
            <a:pPr>
              <a:spcAft>
                <a:spcPts val="800"/>
              </a:spcAft>
              <a:defRPr sz="1300">
                <a:latin typeface="Aptos"/>
              </a:defRPr>
            </a:pPr>
            <a:r>
              <a:t>FIR_05_narcotics.pdf</a:t>
            </a:r>
          </a:p>
          <a:p>
            <a:pPr>
              <a:spcAft>
                <a:spcPts val="800"/>
              </a:spcAft>
              <a:defRPr sz="1300">
                <a:latin typeface="Aptos"/>
              </a:defRPr>
            </a:pPr>
            <a:r>
              <a:t>The narcotics case involves complainant ANF Inspector Fawad Karim and accused Shaukat Ali Mohmand. The complainant is located at ANF Regional Headquarters, University Road, Peshawar, with contact numbers 09112345678 and 03339876541. The accused is from Village Lala Cheena, Khyber District, KPK, with contact number 0...</a:t>
            </a:r>
          </a:p>
          <a:p>
            <a:pPr>
              <a:spcAft>
                <a:spcPts val="800"/>
              </a:spcAft>
              <a:defRPr sz="1300">
                <a:latin typeface="Aptos"/>
              </a:defRPr>
            </a:pPr>
            <a:r>
              <a:t>The incident occurred on 29 November 2024, when ANF officials intercepted a white Toyota Hilux (P-8834) at Bara Toll Plaza, Peshawar. A hidden compartment contained 18.5 kg of heroin. The case was registered under Section 9(c) and Section 15, with SSP Junaid Hafeez Khattak as the Investigating Officer.</a:t>
            </a:r>
          </a:p>
        </p:txBody>
      </p:sp>
      <p:sp>
        <p:nvSpPr>
          <p:cNvPr id="4" name="TextBox 3"/>
          <p:cNvSpPr txBox="1"/>
          <p:nvPr/>
        </p:nvSpPr>
        <p:spPr>
          <a:xfrm>
            <a:off x="640080" y="6236208"/>
            <a:ext cx="10789920" cy="228600"/>
          </a:xfrm>
          <a:prstGeom prst="rect">
            <a:avLst/>
          </a:prstGeom>
          <a:noFill/>
        </p:spPr>
        <p:txBody>
          <a:bodyPr wrap="square">
            <a:spAutoFit/>
          </a:bodyPr>
          <a:lstStyle/>
          <a:p>
            <a:pPr>
              <a:defRPr sz="800" b="0">
                <a:solidFill>
                  <a:srgbClr val="53676A"/>
                </a:solidFill>
                <a:latin typeface="Aptos"/>
              </a:defRPr>
            </a:pPr>
            <a:r>
              <a:t>Sources: FIR_05_narcotics.pdf, p. 1; FIR_05_narcotics.pdf, p. 2; FIR_03_robbery.pdf, p. 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594360" y="256032"/>
            <a:ext cx="10972800" cy="640080"/>
          </a:xfrm>
          <a:prstGeom prst="rect">
            <a:avLst/>
          </a:prstGeom>
          <a:noFill/>
        </p:spPr>
        <p:txBody>
          <a:bodyPr wrap="square">
            <a:spAutoFit/>
          </a:bodyPr>
          <a:lstStyle/>
          <a:p>
            <a:pPr>
              <a:defRPr sz="2300" b="1">
                <a:solidFill>
                  <a:srgbClr val="173B3F"/>
                </a:solidFill>
                <a:latin typeface="Aptos"/>
              </a:defRPr>
            </a:pPr>
            <a:r>
              <a:t>Details (2/2)</a:t>
            </a:r>
          </a:p>
        </p:txBody>
      </p:sp>
      <p:sp>
        <p:nvSpPr>
          <p:cNvPr id="3" name="TextBox 2"/>
          <p:cNvSpPr txBox="1"/>
          <p:nvPr/>
        </p:nvSpPr>
        <p:spPr>
          <a:xfrm>
            <a:off x="822960" y="1051560"/>
            <a:ext cx="10515600" cy="4892040"/>
          </a:xfrm>
          <a:prstGeom prst="rect">
            <a:avLst/>
          </a:prstGeom>
          <a:noFill/>
        </p:spPr>
        <p:txBody>
          <a:bodyPr wrap="square">
            <a:spAutoFit/>
          </a:bodyPr>
          <a:lstStyle/>
          <a:p>
            <a:pPr>
              <a:spcAft>
                <a:spcPts val="800"/>
              </a:spcAft>
              <a:defRPr sz="1500">
                <a:latin typeface="Aptos"/>
              </a:defRPr>
            </a:pPr>
            <a:r>
              <a:t>FIR_03_robbery.pdf</a:t>
            </a:r>
          </a:p>
        </p:txBody>
      </p:sp>
      <p:sp>
        <p:nvSpPr>
          <p:cNvPr id="4" name="TextBox 3"/>
          <p:cNvSpPr txBox="1"/>
          <p:nvPr/>
        </p:nvSpPr>
        <p:spPr>
          <a:xfrm>
            <a:off x="640080" y="6236208"/>
            <a:ext cx="10789920" cy="228600"/>
          </a:xfrm>
          <a:prstGeom prst="rect">
            <a:avLst/>
          </a:prstGeom>
          <a:noFill/>
        </p:spPr>
        <p:txBody>
          <a:bodyPr wrap="square">
            <a:spAutoFit/>
          </a:bodyPr>
          <a:lstStyle/>
          <a:p>
            <a:pPr>
              <a:defRPr sz="800" b="0">
                <a:solidFill>
                  <a:srgbClr val="53676A"/>
                </a:solidFill>
                <a:latin typeface="Aptos"/>
              </a:defRPr>
            </a:pPr>
            <a:r>
              <a:t>Sources: FIR_05_narcotics.pdf, p. 1; FIR_05_narcotics.pdf, p. 2; FIR_03_robbery.pdf, p. 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594360" y="256032"/>
            <a:ext cx="10972800" cy="640080"/>
          </a:xfrm>
          <a:prstGeom prst="rect">
            <a:avLst/>
          </a:prstGeom>
          <a:noFill/>
        </p:spPr>
        <p:txBody>
          <a:bodyPr wrap="square">
            <a:spAutoFit/>
          </a:bodyPr>
          <a:lstStyle/>
          <a:p>
            <a:pPr>
              <a:defRPr sz="2300" b="1">
                <a:solidFill>
                  <a:srgbClr val="173B3F"/>
                </a:solidFill>
                <a:latin typeface="Aptos"/>
              </a:defRPr>
            </a:pPr>
            <a:r>
              <a:t>Details (2)</a:t>
            </a:r>
          </a:p>
        </p:txBody>
      </p:sp>
      <p:sp>
        <p:nvSpPr>
          <p:cNvPr id="3" name="TextBox 2"/>
          <p:cNvSpPr txBox="1"/>
          <p:nvPr/>
        </p:nvSpPr>
        <p:spPr>
          <a:xfrm>
            <a:off x="822960" y="1051560"/>
            <a:ext cx="10515600" cy="4892040"/>
          </a:xfrm>
          <a:prstGeom prst="rect">
            <a:avLst/>
          </a:prstGeom>
          <a:noFill/>
        </p:spPr>
        <p:txBody>
          <a:bodyPr wrap="square">
            <a:spAutoFit/>
          </a:bodyPr>
          <a:lstStyle/>
          <a:p>
            <a:pPr>
              <a:spcAft>
                <a:spcPts val="800"/>
              </a:spcAft>
              <a:defRPr sz="1300">
                <a:latin typeface="Aptos"/>
              </a:defRPr>
            </a:pPr>
            <a:r>
              <a:t>The robbery case involves complainant Nadia Farooq Sheikh and accused Imran Zafar (alias Kala). The complainant resides at Flat 8, Block-4, Clifton, Karachi, with contact numbers 02135678901 and 03123456789. The accused is from Orangi Town, Sector 11-C, Karachi, with contact number 03112345678.</a:t>
            </a:r>
          </a:p>
          <a:p>
            <a:pPr>
              <a:spcAft>
                <a:spcPts val="800"/>
              </a:spcAft>
              <a:defRPr sz="1300">
                <a:latin typeface="Aptos"/>
              </a:defRPr>
            </a:pPr>
            <a:r>
              <a:t>The incident occurred on 17 June 2024, where the complainant was robbed of cash, gold, and an iPhone. The case was registered under Section 392 and Section 397, with Inspector Aamir Nawaz Siddiqui as the Investigating Officer.</a:t>
            </a:r>
          </a:p>
          <a:p>
            <a:pPr>
              <a:spcAft>
                <a:spcPts val="800"/>
              </a:spcAft>
              <a:defRPr sz="1300">
                <a:latin typeface="Aptos"/>
              </a:defRPr>
            </a:pPr>
            <a:r>
              <a:t>FIR_04_cybercrime.pdf</a:t>
            </a:r>
          </a:p>
          <a:p>
            <a:pPr>
              <a:spcAft>
                <a:spcPts val="800"/>
              </a:spcAft>
              <a:defRPr sz="1300">
                <a:latin typeface="Aptos"/>
              </a:defRPr>
            </a:pPr>
            <a:r>
              <a:t>The cybercrime case involves complainant Dr. Sana Malik and accused Bilal Riaz Cheema. The complainant resides at House 3-B, Model Town Extension, Lahore, with contact numbers 03004567812 and 04235678910. The accused is from Johar Town, Block P, House 77, Lahore, with contact number 03334567890.</a:t>
            </a:r>
          </a:p>
        </p:txBody>
      </p:sp>
      <p:sp>
        <p:nvSpPr>
          <p:cNvPr id="4" name="TextBox 3"/>
          <p:cNvSpPr txBox="1"/>
          <p:nvPr/>
        </p:nvSpPr>
        <p:spPr>
          <a:xfrm>
            <a:off x="640080" y="6236208"/>
            <a:ext cx="10789920" cy="228600"/>
          </a:xfrm>
          <a:prstGeom prst="rect">
            <a:avLst/>
          </a:prstGeom>
          <a:noFill/>
        </p:spPr>
        <p:txBody>
          <a:bodyPr wrap="square">
            <a:spAutoFit/>
          </a:bodyPr>
          <a:lstStyle/>
          <a:p>
            <a:pPr>
              <a:defRPr sz="800" b="0">
                <a:solidFill>
                  <a:srgbClr val="53676A"/>
                </a:solidFill>
                <a:latin typeface="Aptos"/>
              </a:defRPr>
            </a:pPr>
            <a:r>
              <a:t>Sources: FIR_03_robbery.pdf, p. 1; FIR_04_cybercrime.pdf, p. 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594360" y="256032"/>
            <a:ext cx="10972800" cy="640080"/>
          </a:xfrm>
          <a:prstGeom prst="rect">
            <a:avLst/>
          </a:prstGeom>
          <a:noFill/>
        </p:spPr>
        <p:txBody>
          <a:bodyPr wrap="square">
            <a:spAutoFit/>
          </a:bodyPr>
          <a:lstStyle/>
          <a:p>
            <a:pPr>
              <a:defRPr sz="2300" b="1">
                <a:solidFill>
                  <a:srgbClr val="173B3F"/>
                </a:solidFill>
                <a:latin typeface="Aptos"/>
              </a:defRPr>
            </a:pPr>
            <a:r>
              <a:t>Details (3) (1/2)</a:t>
            </a:r>
          </a:p>
        </p:txBody>
      </p:sp>
      <p:sp>
        <p:nvSpPr>
          <p:cNvPr id="3" name="TextBox 2"/>
          <p:cNvSpPr txBox="1"/>
          <p:nvPr/>
        </p:nvSpPr>
        <p:spPr>
          <a:xfrm>
            <a:off x="822960" y="1051560"/>
            <a:ext cx="10515600" cy="4892040"/>
          </a:xfrm>
          <a:prstGeom prst="rect">
            <a:avLst/>
          </a:prstGeom>
          <a:noFill/>
        </p:spPr>
        <p:txBody>
          <a:bodyPr wrap="square">
            <a:spAutoFit/>
          </a:bodyPr>
          <a:lstStyle/>
          <a:p>
            <a:pPr>
              <a:spcAft>
                <a:spcPts val="800"/>
              </a:spcAft>
              <a:defRPr sz="1300">
                <a:latin typeface="Aptos"/>
              </a:defRPr>
            </a:pPr>
            <a:r>
              <a:t>The case involves fraudulent profiles and financial theft. The FIA Cyber Crime Wing obtained preservation orders from Meta and requested account freezes from EasyPaisa/Telenor. The case was registered under Section 24 and Section 419, with DSP Rafia Saleem Qureshi as the Investigating Officer.</a:t>
            </a:r>
          </a:p>
          <a:p>
            <a:pPr>
              <a:spcAft>
                <a:spcPts val="800"/>
              </a:spcAft>
              <a:defRPr sz="1300">
                <a:latin typeface="Aptos"/>
              </a:defRPr>
            </a:pPr>
            <a:r>
              <a:t>FIR_02_kidnapping.pdf</a:t>
            </a:r>
          </a:p>
          <a:p>
            <a:pPr>
              <a:spcAft>
                <a:spcPts val="800"/>
              </a:spcAft>
              <a:defRPr sz="1300">
                <a:latin typeface="Aptos"/>
              </a:defRPr>
            </a:pPr>
            <a:r>
              <a:t>The kidnapping case involves complainant Tariq Mahmood Chaudhry and accused Waseem Akram Butt. The complainant resides at House 22, Street 6, Satellite Town, Rawalpindi, with contact numbers 03335678901 and 03215678902. The accused is from Village Dhoke Ratta, Tehsil Gujar, Rawalpindi, with contact number 03215001234.</a:t>
            </a:r>
          </a:p>
        </p:txBody>
      </p:sp>
      <p:sp>
        <p:nvSpPr>
          <p:cNvPr id="4" name="TextBox 3"/>
          <p:cNvSpPr txBox="1"/>
          <p:nvPr/>
        </p:nvSpPr>
        <p:spPr>
          <a:xfrm>
            <a:off x="640080" y="6236208"/>
            <a:ext cx="10789920" cy="228600"/>
          </a:xfrm>
          <a:prstGeom prst="rect">
            <a:avLst/>
          </a:prstGeom>
          <a:noFill/>
        </p:spPr>
        <p:txBody>
          <a:bodyPr wrap="square">
            <a:spAutoFit/>
          </a:bodyPr>
          <a:lstStyle/>
          <a:p>
            <a:pPr>
              <a:defRPr sz="800" b="0">
                <a:solidFill>
                  <a:srgbClr val="53676A"/>
                </a:solidFill>
                <a:latin typeface="Aptos"/>
              </a:defRPr>
            </a:pPr>
            <a:r>
              <a:t>Sources: FIR_04_cybercrime.pdf, p. 1; FIR_02_kidnapping.pdf, p. 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594360" y="256032"/>
            <a:ext cx="10972800" cy="640080"/>
          </a:xfrm>
          <a:prstGeom prst="rect">
            <a:avLst/>
          </a:prstGeom>
          <a:noFill/>
        </p:spPr>
        <p:txBody>
          <a:bodyPr wrap="square">
            <a:spAutoFit/>
          </a:bodyPr>
          <a:lstStyle/>
          <a:p>
            <a:pPr>
              <a:defRPr sz="2300" b="1">
                <a:solidFill>
                  <a:srgbClr val="173B3F"/>
                </a:solidFill>
                <a:latin typeface="Aptos"/>
              </a:defRPr>
            </a:pPr>
            <a:r>
              <a:t>Details (3) (2/2)</a:t>
            </a:r>
          </a:p>
        </p:txBody>
      </p:sp>
      <p:sp>
        <p:nvSpPr>
          <p:cNvPr id="3" name="TextBox 2"/>
          <p:cNvSpPr txBox="1"/>
          <p:nvPr/>
        </p:nvSpPr>
        <p:spPr>
          <a:xfrm>
            <a:off x="822960" y="1051560"/>
            <a:ext cx="10515600" cy="4892040"/>
          </a:xfrm>
          <a:prstGeom prst="rect">
            <a:avLst/>
          </a:prstGeom>
          <a:noFill/>
        </p:spPr>
        <p:txBody>
          <a:bodyPr wrap="square">
            <a:spAutoFit/>
          </a:bodyPr>
          <a:lstStyle/>
          <a:p>
            <a:pPr>
              <a:spcAft>
                <a:spcPts val="800"/>
              </a:spcAft>
              <a:defRPr sz="1300">
                <a:latin typeface="Aptos"/>
              </a:defRPr>
            </a:pPr>
            <a:r>
              <a:t>The incident occurred on 3 March 2024, involving the kidnapping of Muhammad Usman Tariq for ransom. The case was registered under Section 365-A and Section 7 of the Anti-Terrorism Act 1997, with SP Khalid Mehmood Awan as the Investigating Officer.</a:t>
            </a:r>
          </a:p>
        </p:txBody>
      </p:sp>
      <p:sp>
        <p:nvSpPr>
          <p:cNvPr id="4" name="TextBox 3"/>
          <p:cNvSpPr txBox="1"/>
          <p:nvPr/>
        </p:nvSpPr>
        <p:spPr>
          <a:xfrm>
            <a:off x="640080" y="6236208"/>
            <a:ext cx="10789920" cy="228600"/>
          </a:xfrm>
          <a:prstGeom prst="rect">
            <a:avLst/>
          </a:prstGeom>
          <a:noFill/>
        </p:spPr>
        <p:txBody>
          <a:bodyPr wrap="square">
            <a:spAutoFit/>
          </a:bodyPr>
          <a:lstStyle/>
          <a:p>
            <a:pPr>
              <a:defRPr sz="800" b="0">
                <a:solidFill>
                  <a:srgbClr val="53676A"/>
                </a:solidFill>
                <a:latin typeface="Aptos"/>
              </a:defRPr>
            </a:pPr>
            <a:r>
              <a:t>Sources: FIR_04_cybercrime.pdf, p. 1; FIR_02_kidnapping.pdf, p. 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594360" y="256032"/>
            <a:ext cx="10972800" cy="640080"/>
          </a:xfrm>
          <a:prstGeom prst="rect">
            <a:avLst/>
          </a:prstGeom>
          <a:noFill/>
        </p:spPr>
        <p:txBody>
          <a:bodyPr wrap="square">
            <a:spAutoFit/>
          </a:bodyPr>
          <a:lstStyle/>
          <a:p>
            <a:pPr>
              <a:defRPr sz="2300" b="1">
                <a:solidFill>
                  <a:srgbClr val="173B3F"/>
                </a:solidFill>
                <a:latin typeface="Aptos"/>
              </a:defRPr>
            </a:pPr>
            <a:r>
              <a:t>Details (4)</a:t>
            </a:r>
          </a:p>
        </p:txBody>
      </p:sp>
      <p:graphicFrame>
        <p:nvGraphicFramePr>
          <p:cNvPr id="3" name="Table 2"/>
          <p:cNvGraphicFramePr>
            <a:graphicFrameLocks noGrp="1"/>
          </p:cNvGraphicFramePr>
          <p:nvPr/>
        </p:nvGraphicFramePr>
        <p:xfrm>
          <a:off x="502920" y="1051560"/>
          <a:ext cx="11155680" cy="4937760"/>
        </p:xfrm>
        <a:graphic>
          <a:graphicData uri="http://schemas.openxmlformats.org/drawingml/2006/table">
            <a:tbl>
              <a:tblPr firstRow="1" bandRow="1">
                <a:tableStyleId>{5C22544A-7EE6-4342-B048-85BDC9FD1C3A}</a:tableStyleId>
              </a:tblPr>
              <a:tblGrid>
                <a:gridCol w="2788920"/>
                <a:gridCol w="2788920"/>
                <a:gridCol w="2788920"/>
                <a:gridCol w="2788920"/>
              </a:tblGrid>
              <a:tr h="822960">
                <a:tc>
                  <a:txBody>
                    <a:bodyPr/>
                    <a:lstStyle/>
                    <a:p>
                      <a:r>
                        <a:rPr b="1" sz="1000">
                          <a:solidFill>
                            <a:srgbClr val="FFFFFF"/>
                          </a:solidFill>
                        </a:rPr>
                        <a:t>Document</a:t>
                      </a:r>
                    </a:p>
                  </a:txBody>
                  <a:tcPr>
                    <a:solidFill>
                      <a:srgbClr val="173B3F"/>
                    </a:solidFill>
                  </a:tcPr>
                </a:tc>
                <a:tc>
                  <a:txBody>
                    <a:bodyPr/>
                    <a:lstStyle/>
                    <a:p>
                      <a:r>
                        <a:rPr b="1" sz="1000">
                          <a:solidFill>
                            <a:srgbClr val="FFFFFF"/>
                          </a:solidFill>
                        </a:rPr>
                        <a:t>Crime / offense</a:t>
                      </a:r>
                    </a:p>
                  </a:txBody>
                  <a:tcPr>
                    <a:solidFill>
                      <a:srgbClr val="173B3F"/>
                    </a:solidFill>
                  </a:tcPr>
                </a:tc>
                <a:tc>
                  <a:txBody>
                    <a:bodyPr/>
                    <a:lstStyle/>
                    <a:p>
                      <a:r>
                        <a:rPr b="1" sz="1000">
                          <a:solidFill>
                            <a:srgbClr val="FFFFFF"/>
                          </a:solidFill>
                        </a:rPr>
                        <a:t>Key details</a:t>
                      </a:r>
                    </a:p>
                  </a:txBody>
                  <a:tcPr>
                    <a:solidFill>
                      <a:srgbClr val="173B3F"/>
                    </a:solidFill>
                  </a:tcPr>
                </a:tc>
                <a:tc>
                  <a:txBody>
                    <a:bodyPr/>
                    <a:lstStyle/>
                    <a:p>
                      <a:r>
                        <a:rPr b="1" sz="1000">
                          <a:solidFill>
                            <a:srgbClr val="FFFFFF"/>
                          </a:solidFill>
                        </a:rPr>
                        <a:t>Evidence / status</a:t>
                      </a:r>
                    </a:p>
                  </a:txBody>
                  <a:tcPr>
                    <a:solidFill>
                      <a:srgbClr val="173B3F"/>
                    </a:solidFill>
                  </a:tcPr>
                </a:tc>
              </a:tr>
              <a:tr h="822960">
                <a:tc>
                  <a:txBody>
                    <a:bodyPr/>
                    <a:lstStyle/>
                    <a:p>
                      <a:pPr>
                        <a:defRPr sz="900"/>
                      </a:pPr>
                      <a:r>
                        <a:t>FIR_02_kidnapping.pdf</a:t>
                      </a:r>
                    </a:p>
                  </a:txBody>
                  <a:tcPr/>
                </a:tc>
                <a:tc>
                  <a:txBody>
                    <a:bodyPr/>
                    <a:lstStyle/>
                    <a:p>
                      <a:pPr>
                        <a:defRPr sz="900"/>
                      </a:pPr>
                      <a:r>
                        <a:t>Kidnapping</a:t>
                      </a:r>
                    </a:p>
                  </a:txBody>
                  <a:tcPr/>
                </a:tc>
                <a:tc>
                  <a:txBody>
                    <a:bodyPr/>
                    <a:lstStyle/>
                    <a:p>
                      <a:pPr>
                        <a:defRPr sz="900"/>
                      </a:pPr>
                      <a:r>
                        <a:t>Father's Name: Haji Mehmood Chaudhry Father's Name(s): Abdul Sattar Butt [Columns: 1. Complainant Information | 2. Accused Info...</a:t>
                      </a:r>
                    </a:p>
                  </a:txBody>
                  <a:tcPr/>
                </a:tc>
                <a:tc>
                  <a:txBody>
                    <a:bodyPr/>
                    <a:lstStyle/>
                    <a:p>
                      <a:pPr>
                        <a:defRPr sz="900"/>
                      </a:pPr>
                      <a:r>
                        <a:t>Father's Name: Haji Mehmood Chaudhry Father's Name(s): Abdul Sattar Butt [Columns: 1. Complainant Information | 2. Accused Info...</a:t>
                      </a:r>
                    </a:p>
                  </a:txBody>
                  <a:tcPr/>
                </a:tc>
              </a:tr>
              <a:tr h="822960">
                <a:tc>
                  <a:txBody>
                    <a:bodyPr/>
                    <a:lstStyle/>
                    <a:p>
                      <a:pPr>
                        <a:defRPr sz="900"/>
                      </a:pPr>
                      <a:r>
                        <a:t>FIR_03_robbery.pdf</a:t>
                      </a:r>
                    </a:p>
                  </a:txBody>
                  <a:tcPr/>
                </a:tc>
                <a:tc>
                  <a:txBody>
                    <a:bodyPr/>
                    <a:lstStyle/>
                    <a:p>
                      <a:pPr>
                        <a:defRPr sz="900"/>
                      </a:pPr>
                      <a:r>
                        <a:t>Robbery</a:t>
                      </a:r>
                    </a:p>
                  </a:txBody>
                  <a:tcPr/>
                </a:tc>
                <a:tc>
                  <a:txBody>
                    <a:bodyPr/>
                    <a:lstStyle/>
                    <a:p>
                      <a:pPr>
                        <a:defRPr sz="900"/>
                      </a:pPr>
                      <a:r>
                        <a:t>Legal Action and Current Status: This FIR is registered under Section 392 PPC (Robbery) and Section 397 PPC (Robbery with use o...</a:t>
                      </a:r>
                    </a:p>
                  </a:txBody>
                  <a:tcPr/>
                </a:tc>
                <a:tc>
                  <a:txBody>
                    <a:bodyPr/>
                    <a:lstStyle/>
                    <a:p>
                      <a:pPr>
                        <a:defRPr sz="900"/>
                      </a:pPr>
                      <a:r>
                        <a:t>Evidence and Investigative Action: CCTV footage has been secured from three cameras along Khayaban-e-Iqbal including a Sindh Sa...</a:t>
                      </a:r>
                    </a:p>
                  </a:txBody>
                  <a:tcPr/>
                </a:tc>
              </a:tr>
              <a:tr h="822960">
                <a:tc>
                  <a:txBody>
                    <a:bodyPr/>
                    <a:lstStyle/>
                    <a:p>
                      <a:pPr>
                        <a:defRPr sz="900"/>
                      </a:pPr>
                      <a:r>
                        <a:t>FIR_04_cybercrime.pdf</a:t>
                      </a:r>
                    </a:p>
                  </a:txBody>
                  <a:tcPr/>
                </a:tc>
                <a:tc>
                  <a:txBody>
                    <a:bodyPr/>
                    <a:lstStyle/>
                    <a:p>
                      <a:pPr>
                        <a:defRPr sz="900"/>
                      </a:pPr>
                      <a:r>
                        <a:t>Cybercrime</a:t>
                      </a:r>
                    </a:p>
                  </a:txBody>
                  <a:tcPr/>
                </a:tc>
                <a:tc>
                  <a:txBody>
                    <a:bodyPr/>
                    <a:lstStyle/>
                    <a:p>
                      <a:pPr>
                        <a:defRPr sz="900"/>
                      </a:pPr>
                      <a:r>
                        <a:t>The undersigned, Dr. Sana Malik daughter of Prof. Malik Akhtar Hussain, residing at Bungalow 3-B, Model Town Extension Phase-II...</a:t>
                      </a:r>
                    </a:p>
                  </a:txBody>
                  <a:tcPr/>
                </a:tc>
                <a:tc>
                  <a:txBody>
                    <a:bodyPr/>
                    <a:lstStyle/>
                    <a:p>
                      <a:pPr>
                        <a:defRPr sz="900"/>
                      </a:pPr>
                      <a:r>
                        <a:t>The undersigned, Dr. Sana Malik daughter of Prof. Malik Akhtar Hussain, residing at Bungalow 3-B, Model Town Extension Phase-II...</a:t>
                      </a:r>
                    </a:p>
                  </a:txBody>
                  <a:tcPr/>
                </a:tc>
              </a:tr>
              <a:tr h="822960">
                <a:tc>
                  <a:txBody>
                    <a:bodyPr/>
                    <a:lstStyle/>
                    <a:p>
                      <a:pPr>
                        <a:defRPr sz="900"/>
                      </a:pPr>
                      <a:r>
                        <a:t>FIR_05_narcotics.pdf</a:t>
                      </a:r>
                    </a:p>
                  </a:txBody>
                  <a:tcPr/>
                </a:tc>
                <a:tc>
                  <a:txBody>
                    <a:bodyPr/>
                    <a:lstStyle/>
                    <a:p>
                      <a:pPr>
                        <a:defRPr sz="900"/>
                      </a:pPr>
                      <a:r>
                        <a:t>Narcotics</a:t>
                      </a:r>
                    </a:p>
                  </a:txBody>
                  <a:tcPr/>
                </a:tc>
                <a:tc>
                  <a:txBody>
                    <a:bodyPr/>
                    <a:lstStyle/>
                    <a:p>
                      <a:pPr>
                        <a:defRPr sz="900"/>
                      </a:pPr>
                      <a:r>
                        <a:t>Legal Action and Current Status: This FIR is registered under Section 9(c) of the Control of Narcotic Substances Act 1997 (poss...</a:t>
                      </a:r>
                    </a:p>
                  </a:txBody>
                  <a:tcPr/>
                </a:tc>
                <a:tc>
                  <a:txBody>
                    <a:bodyPr/>
                    <a:lstStyle/>
                    <a:p>
                      <a:pPr>
                        <a:defRPr sz="900"/>
                      </a:pPr>
                      <a:r>
                        <a:t>Legal Action and Current Status: This FIR is registered under Section 9(c) of the Control of Narcotic Substances Act 1997 (poss...</a:t>
                      </a:r>
                    </a:p>
                  </a:txBody>
                  <a:tcPr/>
                </a:tc>
              </a:tr>
              <a:tr h="822960">
                <a:tc>
                  <a:txBody>
                    <a:bodyPr/>
                    <a:lstStyle/>
                    <a:p>
                      <a:pPr>
                        <a:defRPr sz="900"/>
                      </a:pPr>
                      <a:r>
                        <a:t>FIR_fictitious.pdf</a:t>
                      </a:r>
                    </a:p>
                  </a:txBody>
                  <a:tcPr/>
                </a:tc>
                <a:tc>
                  <a:txBody>
                    <a:bodyPr/>
                    <a:lstStyle/>
                    <a:p>
                      <a:pPr>
                        <a:defRPr sz="900"/>
                      </a:pPr>
                      <a:r>
                        <a:t>[Section: 7.</a:t>
                      </a:r>
                    </a:p>
                  </a:txBody>
                  <a:tcPr/>
                </a:tc>
                <a:tc>
                  <a:txBody>
                    <a:bodyPr/>
                    <a:lstStyle/>
                    <a:p>
                      <a:pPr>
                        <a:defRPr sz="900"/>
                      </a:pPr>
                      <a:r>
                        <a:t>The undersigned, Rashid Mehmood son of Haji Abdul Rehman, residing at Street 3, Plot 44, Sector G-9/2, Islamabad, hereby states...</a:t>
                      </a:r>
                    </a:p>
                  </a:txBody>
                  <a:tcPr/>
                </a:tc>
                <a:tc>
                  <a:txBody>
                    <a:bodyPr/>
                    <a:lstStyle/>
                    <a:p>
                      <a:pPr>
                        <a:defRPr sz="900"/>
                      </a:pPr>
                      <a:r>
                        <a:t>Legal Action | 6.</a:t>
                      </a:r>
                    </a:p>
                  </a:txBody>
                  <a:tcPr/>
                </a:tc>
              </a:tr>
            </a:tbl>
          </a:graphicData>
        </a:graphic>
      </p:graphicFrame>
      <p:sp>
        <p:nvSpPr>
          <p:cNvPr id="4" name="TextBox 3"/>
          <p:cNvSpPr txBox="1"/>
          <p:nvPr/>
        </p:nvSpPr>
        <p:spPr>
          <a:xfrm>
            <a:off x="640080" y="6236208"/>
            <a:ext cx="10789920" cy="228600"/>
          </a:xfrm>
          <a:prstGeom prst="rect">
            <a:avLst/>
          </a:prstGeom>
          <a:noFill/>
        </p:spPr>
        <p:txBody>
          <a:bodyPr wrap="square">
            <a:spAutoFit/>
          </a:bodyPr>
          <a:lstStyle/>
          <a:p>
            <a:pPr>
              <a:defRPr sz="800" b="0">
                <a:solidFill>
                  <a:srgbClr val="53676A"/>
                </a:solidFill>
                <a:latin typeface="Aptos"/>
              </a:defRPr>
            </a:pPr>
            <a:r>
              <a:t>Sources: FIR_02_kidnapping.pdf, p. 1; FIR_03_robbery.pdf, p. 1; FIR_04_cybercrime.pdf, p. 1; FIR_05_narcotics.pdf, p. 1; FIR_fictitious.pdf, p. 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594360" y="274320"/>
            <a:ext cx="10972800" cy="502920"/>
          </a:xfrm>
          <a:prstGeom prst="rect">
            <a:avLst/>
          </a:prstGeom>
          <a:noFill/>
        </p:spPr>
        <p:txBody>
          <a:bodyPr wrap="square">
            <a:spAutoFit/>
          </a:bodyPr>
          <a:lstStyle/>
          <a:p>
            <a:pPr>
              <a:defRPr sz="2300" b="1">
                <a:solidFill>
                  <a:srgbClr val="173B3F"/>
                </a:solidFill>
                <a:latin typeface="Aptos"/>
              </a:defRPr>
            </a:pPr>
            <a:r>
              <a:t>References</a:t>
            </a:r>
          </a:p>
        </p:txBody>
      </p:sp>
      <p:sp>
        <p:nvSpPr>
          <p:cNvPr id="3" name="TextBox 2"/>
          <p:cNvSpPr txBox="1"/>
          <p:nvPr/>
        </p:nvSpPr>
        <p:spPr>
          <a:xfrm>
            <a:off x="822960" y="1051560"/>
            <a:ext cx="10515600" cy="4892040"/>
          </a:xfrm>
          <a:prstGeom prst="rect">
            <a:avLst/>
          </a:prstGeom>
          <a:noFill/>
        </p:spPr>
        <p:txBody>
          <a:bodyPr wrap="square">
            <a:spAutoFit/>
          </a:bodyPr>
          <a:lstStyle/>
          <a:p>
            <a:pPr>
              <a:spcAft>
                <a:spcPts val="800"/>
              </a:spcAft>
              <a:defRPr sz="1200">
                <a:latin typeface="Aptos"/>
              </a:defRPr>
            </a:pPr>
            <a:r>
              <a:t>[1] FIR_fictitious.pdf, page 1 (8ab31795-428d-4b0c-a7c3-3c0870e6bdda:8ab31795-428d-4b0c-a7c3-3c0870e6bdda:13)</a:t>
            </a:r>
          </a:p>
          <a:p>
            <a:pPr>
              <a:spcAft>
                <a:spcPts val="800"/>
              </a:spcAft>
              <a:defRPr sz="1200">
                <a:latin typeface="Aptos"/>
              </a:defRPr>
            </a:pPr>
            <a:r>
              <a:t>[2] FIR_fictitious.pdf, page 1 (8ab31795-428d-4b0c-a7c3-3c0870e6bdda:8ab31795-428d-4b0c-a7c3-3c0870e6bdda:8)</a:t>
            </a:r>
          </a:p>
          <a:p>
            <a:pPr>
              <a:spcAft>
                <a:spcPts val="800"/>
              </a:spcAft>
              <a:defRPr sz="1200">
                <a:latin typeface="Aptos"/>
              </a:defRPr>
            </a:pPr>
            <a:r>
              <a:t>[3] FIR_fictitious.pdf, page 1 (8ab31795-428d-4b0c-a7c3-3c0870e6bdda:8ab31795-428d-4b0c-a7c3-3c0870e6bdda:10)</a:t>
            </a:r>
          </a:p>
          <a:p>
            <a:pPr>
              <a:spcAft>
                <a:spcPts val="800"/>
              </a:spcAft>
              <a:defRPr sz="1200">
                <a:latin typeface="Aptos"/>
              </a:defRPr>
            </a:pPr>
            <a:r>
              <a:t>[4] FIR_fictitious.pdf, page 1 (8ab31795-428d-4b0c-a7c3-3c0870e6bdda:8ab31795-428d-4b0c-a7c3-3c0870e6bdda:12)</a:t>
            </a:r>
          </a:p>
          <a:p>
            <a:pPr>
              <a:spcAft>
                <a:spcPts val="800"/>
              </a:spcAft>
              <a:defRPr sz="1200">
                <a:latin typeface="Aptos"/>
              </a:defRPr>
            </a:pPr>
            <a:r>
              <a:t>[5] FIR_04_cybercrime.pdf, page 1 (2a65950f-c76c-4508-841a-bea64ee31f88:2a65950f-c76c-4508-841a-bea64ee31f88:13)</a:t>
            </a:r>
          </a:p>
          <a:p>
            <a:pPr>
              <a:spcAft>
                <a:spcPts val="800"/>
              </a:spcAft>
              <a:defRPr sz="1200">
                <a:latin typeface="Aptos"/>
              </a:defRPr>
            </a:pPr>
            <a:r>
              <a:t>[6] FIR_05_narcotics.pdf, page 1 (081605ee-51d4-4332-bcc0-c80907ed18c2:081605ee-51d4-4332-bcc0-c80907ed18c2:12)</a:t>
            </a:r>
          </a:p>
          <a:p>
            <a:pPr>
              <a:spcAft>
                <a:spcPts val="800"/>
              </a:spcAft>
              <a:defRPr sz="1200">
                <a:latin typeface="Aptos"/>
              </a:defRPr>
            </a:pPr>
            <a:r>
              <a:t>[7] FIR_03_robbery.pdf, page 1 (144be8c1-5394-4609-beda-55b738ccc36d:144be8c1-5394-4609-beda-55b738ccc36d:12)</a:t>
            </a:r>
          </a:p>
          <a:p>
            <a:pPr>
              <a:spcAft>
                <a:spcPts val="800"/>
              </a:spcAft>
              <a:defRPr sz="1200">
                <a:latin typeface="Aptos"/>
              </a:defRPr>
            </a:pPr>
            <a:r>
              <a:t>[8] FIR_02_kidnapping.pdf, page 1 (b3c0c858-de65-4eeb-b325-1fae34403941:b3c0c858-de65-4eeb-b325-1fae34403941:15)</a:t>
            </a:r>
          </a:p>
          <a:p>
            <a:pPr>
              <a:spcAft>
                <a:spcPts val="800"/>
              </a:spcAft>
              <a:defRPr sz="1200">
                <a:latin typeface="Aptos"/>
              </a:defRPr>
            </a:pPr>
            <a:r>
              <a:t>[9] FIR_05_narcotics.pdf, page 1 (081605ee-51d4-4332-bcc0-c80907ed18c2:081605ee-51d4-4332-bcc0-c80907ed18c2:0)</a:t>
            </a:r>
          </a:p>
          <a:p>
            <a:pPr>
              <a:spcAft>
                <a:spcPts val="800"/>
              </a:spcAft>
              <a:defRPr sz="1200">
                <a:latin typeface="Aptos"/>
              </a:defRPr>
            </a:pPr>
            <a:r>
              <a:t>[10] FIR_03_robbery.pdf, page 1 (144be8c1-5394-4609-beda-55b738ccc36d:144be8c1-5394-4609-beda-55b738ccc36d:0)</a:t>
            </a:r>
          </a:p>
          <a:p>
            <a:pPr>
              <a:spcAft>
                <a:spcPts val="800"/>
              </a:spcAft>
              <a:defRPr sz="1200">
                <a:latin typeface="Aptos"/>
              </a:defRPr>
            </a:pPr>
            <a:r>
              <a:t>[11] FIR_03_robbery.pdf, page 1 (144be8c1-5394-4609-beda-55b738ccc36d:144be8c1-5394-4609-beda-55b738ccc36d:11)</a:t>
            </a:r>
          </a:p>
          <a:p>
            <a:pPr>
              <a:spcAft>
                <a:spcPts val="800"/>
              </a:spcAft>
              <a:defRPr sz="1200">
                <a:latin typeface="Aptos"/>
              </a:defRPr>
            </a:pPr>
            <a:r>
              <a:t>[12] FIR_05_narcotics.pdf, page 1 (081605ee-51d4-4332-bcc0-c80907ed18c2:081605ee-51d4-4332-bcc0-c80907ed18c2:11)</a:t>
            </a:r>
          </a:p>
          <a:p>
            <a:pPr>
              <a:spcAft>
                <a:spcPts val="800"/>
              </a:spcAft>
              <a:defRPr sz="1200">
                <a:latin typeface="Aptos"/>
              </a:defRPr>
            </a:pPr>
            <a:r>
              <a:t>[13] FIR_05_narcotics.pdf, page 1 (081605ee-51d4-4332-bcc0-c80907ed18c2:081605ee-51d4-4332-bcc0-c80907ed18c2:5)</a:t>
            </a:r>
          </a:p>
          <a:p>
            <a:pPr>
              <a:spcAft>
                <a:spcPts val="800"/>
              </a:spcAft>
              <a:defRPr sz="1200">
                <a:latin typeface="Aptos"/>
              </a:defRPr>
            </a:pPr>
            <a:r>
              <a:t>[14] FIR_05_narcotics.pdf, page 1 (081605ee-51d4-4332-bcc0-c80907ed18c2:081605ee-51d4-4332-bcc0-c80907ed18c2:3)</a:t>
            </a:r>
          </a:p>
          <a:p>
            <a:pPr>
              <a:spcAft>
                <a:spcPts val="800"/>
              </a:spcAft>
              <a:defRPr sz="1200">
                <a:latin typeface="Aptos"/>
              </a:defRPr>
            </a:pPr>
            <a:r>
              <a:t>[15] FIR_03_robbery.pdf, page 1 (144be8c1-5394-4609-beda-55b738ccc36d:144be8c1-5394-4609-beda-55b738ccc36d:1)</a:t>
            </a:r>
          </a:p>
          <a:p>
            <a:pPr>
              <a:spcAft>
                <a:spcPts val="800"/>
              </a:spcAft>
              <a:defRPr sz="1200">
                <a:latin typeface="Aptos"/>
              </a:defRPr>
            </a:pPr>
            <a:r>
              <a:t>[16] FIR_03_robbery.pdf, page 1 (144be8c1-5394-4609-beda-55b738ccc36d:144be8c1-5394-4609-beda-55b738ccc36d:15)</a:t>
            </a:r>
          </a:p>
          <a:p>
            <a:pPr>
              <a:spcAft>
                <a:spcPts val="800"/>
              </a:spcAft>
              <a:defRPr sz="1200">
                <a:latin typeface="Aptos"/>
              </a:defRPr>
            </a:pPr>
            <a:r>
              <a:t>[17] FIR_02_kidnapping.pdf, page 1 (b3c0c858-de65-4eeb-b325-1fae34403941:b3c0c858-de65-4eeb-b325-1fae34403941:4)</a:t>
            </a:r>
          </a:p>
          <a:p>
            <a:pPr>
              <a:spcAft>
                <a:spcPts val="800"/>
              </a:spcAft>
              <a:defRPr sz="1200">
                <a:latin typeface="Aptos"/>
              </a:defRPr>
            </a:pPr>
            <a:r>
              <a:t>[18] FIR_03_robbery.pdf, page 1 (144be8c1-5394-4609-beda-55b738ccc36d:144be8c1-5394-4609-beda-55b738ccc36d:3)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