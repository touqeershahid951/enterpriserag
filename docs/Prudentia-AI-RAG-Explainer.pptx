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5792dd5ae04b5a" /><Relationship Type="http://schemas.openxmlformats.org/officeDocument/2006/relationships/extended-properties" Target="/docProps/app.xml" Id="R5d9bc59a56b74450" /><Relationship Type="http://schemas.openxmlformats.org/officeDocument/2006/relationships/officeDocument" Target="/ppt/presentation.xml" Id="R8c874aab03f743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4ce1f99866482e"/>
  </p:sldMasterIdLst>
  <p:notesMasterIdLst>
    <p:notesMasterId xmlns:r="http://schemas.openxmlformats.org/officeDocument/2006/relationships" r:id="R15d8bcba87944706"/>
  </p:notesMasterIdLst>
  <p:sldIdLst>
    <p:sldId xmlns:r="http://schemas.openxmlformats.org/officeDocument/2006/relationships" id="256" r:id="R430a500015fd43e2"/>
    <p:sldId xmlns:r="http://schemas.openxmlformats.org/officeDocument/2006/relationships" id="257" r:id="R8ccfb00b1bff4003"/>
    <p:sldId xmlns:r="http://schemas.openxmlformats.org/officeDocument/2006/relationships" id="258" r:id="R640105aea88345a2"/>
    <p:sldId xmlns:r="http://schemas.openxmlformats.org/officeDocument/2006/relationships" id="259" r:id="R0a4ffe339b814234"/>
    <p:sldId xmlns:r="http://schemas.openxmlformats.org/officeDocument/2006/relationships" id="260" r:id="Rc0d4183fea5140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40592675754cc5" /><Relationship Type="http://schemas.openxmlformats.org/officeDocument/2006/relationships/slideMaster" Target="/ppt/slideMasters/slideMaster1.xml" Id="Rf14ce1f99866482e" /><Relationship Type="http://schemas.openxmlformats.org/officeDocument/2006/relationships/notesMaster" Target="/ppt/notesMasters/notesMaster1.xml" Id="R15d8bcba87944706" /><Relationship Type="http://schemas.openxmlformats.org/officeDocument/2006/relationships/presProps" Target="/ppt/presProps.xml" Id="R569e0a03c76d42e1" /><Relationship Type="http://schemas.openxmlformats.org/officeDocument/2006/relationships/tableStyles" Target="/ppt/tableStyles.xml" Id="R7e16464b1084493a" /><Relationship Type="http://schemas.openxmlformats.org/officeDocument/2006/relationships/slide" Target="/ppt/slides/slide1.xml" Id="R430a500015fd43e2" /><Relationship Type="http://schemas.openxmlformats.org/officeDocument/2006/relationships/slide" Target="/ppt/slides/slide2.xml" Id="R8ccfb00b1bff4003" /><Relationship Type="http://schemas.openxmlformats.org/officeDocument/2006/relationships/slide" Target="/ppt/slides/slide3.xml" Id="R640105aea88345a2" /><Relationship Type="http://schemas.openxmlformats.org/officeDocument/2006/relationships/slide" Target="/ppt/slides/slide4.xml" Id="R0a4ffe339b814234" /><Relationship Type="http://schemas.openxmlformats.org/officeDocument/2006/relationships/slide" Target="/ppt/slides/slide5.xml" Id="Rc0d4183fea5140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0fe36c58ff42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dce60f9fb94c1e" /><Relationship Type="http://schemas.openxmlformats.org/officeDocument/2006/relationships/notesMaster" Target="/ppt/notesMasters/notesMaster1.xml" Id="R126392f3cb9248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a442f9f18547dd" /><Relationship Type="http://schemas.openxmlformats.org/officeDocument/2006/relationships/notesMaster" Target="/ppt/notesMasters/notesMaster1.xml" Id="R5884ae78b04045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50c73531f04cf6" /><Relationship Type="http://schemas.openxmlformats.org/officeDocument/2006/relationships/notesMaster" Target="/ppt/notesMasters/notesMaster1.xml" Id="Rb04f00dfc7434a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69cf759fe944e0" /><Relationship Type="http://schemas.openxmlformats.org/officeDocument/2006/relationships/notesMaster" Target="/ppt/notesMasters/notesMaster1.xml" Id="Rf1e8a11a31344a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15694b81c74984" /><Relationship Type="http://schemas.openxmlformats.org/officeDocument/2006/relationships/notesMaster" Target="/ppt/notesMasters/notesMaster1.xml" Id="R974a72336f9341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RAG is the full path from controlled knowledge to a supported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docs/architecture-flows.md</a:t>
            </a:r>
          </a:p>
          <a:p xmlns:a="http://schemas.openxmlformats.org/drawingml/2006/main">
            <a:r>
              <a:t>- design.md</a:t>
            </a:r>
          </a:p>
          <a:p xmlns:a="http://schemas.openxmlformats.org/drawingml/2006/main">
            <a:r>
              <a:t>- PRODUCT.md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stages as one continuous user experience.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docs/architecture-flows.md</a:t>
            </a:r>
          </a:p>
          <a:p xmlns:a="http://schemas.openxmlformats.org/drawingml/2006/main">
            <a:r>
              <a:t>- design.md</a:t>
            </a:r>
          </a:p>
          <a:p xmlns:a="http://schemas.openxmlformats.org/drawingml/2006/main">
            <a:r>
              <a:t>- PRODUCT.md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exported ingestion flow as the detailed reference; the left side is the short version.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docs/architecture-flows.md</a:t>
            </a:r>
          </a:p>
          <a:p xmlns:a="http://schemas.openxmlformats.org/drawingml/2006/main">
            <a:r>
              <a:t>- design.md</a:t>
            </a:r>
          </a:p>
          <a:p xmlns:a="http://schemas.openxmlformats.org/drawingml/2006/main">
            <a:r>
              <a:t>- PRODUCT.md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user-visible contract: grounded answers include citations and visible uncertainty.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docs/architecture-flows.md</a:t>
            </a:r>
          </a:p>
          <a:p xmlns:a="http://schemas.openxmlformats.org/drawingml/2006/main">
            <a:r>
              <a:t>- design.md</a:t>
            </a:r>
          </a:p>
          <a:p xmlns:a="http://schemas.openxmlformats.org/drawingml/2006/main">
            <a:r>
              <a:t>- PRODUCT.md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connect the RAG flow to the platform features that make it safe for enterprise 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docs/architecture-flows.md</a:t>
            </a:r>
          </a:p>
          <a:p xmlns:a="http://schemas.openxmlformats.org/drawingml/2006/main">
            <a:r>
              <a:t>- design.md</a:t>
            </a:r>
          </a:p>
          <a:p xmlns:a="http://schemas.openxmlformats.org/drawingml/2006/main">
            <a:r>
              <a:t>- PRODUCT.md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e5a23edd394b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85c123a3454042" /><Relationship Type="http://schemas.openxmlformats.org/officeDocument/2006/relationships/slideLayout" Target="/ppt/slideLayouts/slideLayout1.xml" Id="Rcf6de9f8d0af4b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6de9f8d0af4b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dcafd7607c4d4e" /><Relationship Type="http://schemas.openxmlformats.org/officeDocument/2006/relationships/notesSlide" Target="/ppt/notesSlides/notesSlide1.xml" Id="R2eda3349a0f540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0b2ae2d5f4711" /><Relationship Type="http://schemas.openxmlformats.org/officeDocument/2006/relationships/notesSlide" Target="/ppt/notesSlides/notesSlide2.xml" Id="R3b257a4ef9554b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f2642e5ee46ab" /><Relationship Type="http://schemas.openxmlformats.org/officeDocument/2006/relationships/image" Target="/ppt/media/image.png" Id="Rb3dacfb3846142c5" /><Relationship Type="http://schemas.openxmlformats.org/officeDocument/2006/relationships/notesSlide" Target="/ppt/notesSlides/notesSlide3.xml" Id="Rfdfec36a4b1248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5968bb393431a" /><Relationship Type="http://schemas.openxmlformats.org/officeDocument/2006/relationships/image" Target="/ppt/media/image2.png" Id="R05049766c2b94a7c" /><Relationship Type="http://schemas.openxmlformats.org/officeDocument/2006/relationships/notesSlide" Target="/ppt/notesSlides/notesSlide4.xml" Id="Rcbecc1190b3546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e1cab8ade4c60" /><Relationship Type="http://schemas.openxmlformats.org/officeDocument/2006/relationships/notesSlide" Target="/ppt/notesSlides/notesSlide5.xml" Id="R0b35c56f56eb49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056C1A1C-9578-4769-AD6A-BC56E182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PRUDENTIA AI / RAG EXPLAINER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BFA1C11-CCDD-4523-9FA5-64AF372A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How RAG works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B8C6A9F-96C5-4303-B8A2-37694B95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533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>
                <a:solidFill>
                  <a:srgbClr val="5E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5E626B"/>
                </a:solidFill>
                <a:latin typeface="Helvetica Neue"/>
                <a:ea typeface="Helvetica Neue"/>
                <a:cs typeface="Helvetica Neue"/>
              </a:rPr>
              <a:t>From governed documents to grounded answers</a:t>
            </a:r>
          </a:p>
        </p:txBody>
      </p:sp>
      <p:sp>
        <p:nvSpPr>
          <p:cNvPr id="4" name="cover-rule">
            <a:extLst xmlns:a="http://schemas.openxmlformats.org/drawingml/2006/main">
              <a:ext uri="{FF2B5EF4-FFF2-40B4-BE49-F238E27FC236}">
                <a16:creationId xmlns:a16="http://schemas.microsoft.com/office/drawing/2014/main" id="{EA05C40A-BC6B-43CB-8E19-2D500D4A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5" name="cover-index-0">
            <a:extLst xmlns:a="http://schemas.openxmlformats.org/drawingml/2006/main">
              <a:ext uri="{FF2B5EF4-FFF2-40B4-BE49-F238E27FC236}">
                <a16:creationId xmlns:a16="http://schemas.microsoft.com/office/drawing/2014/main" id="{EBDA445F-74D0-44A1-9858-C0F1CCC8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cover-label-0">
            <a:extLst xmlns:a="http://schemas.openxmlformats.org/drawingml/2006/main">
              <a:ext uri="{FF2B5EF4-FFF2-40B4-BE49-F238E27FC236}">
                <a16:creationId xmlns:a16="http://schemas.microsoft.com/office/drawing/2014/main" id="{841F7883-4F14-4DD3-A048-E17D937E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530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Prepare</a:t>
            </a:r>
          </a:p>
        </p:txBody>
      </p:sp>
      <p:sp>
        <p:nvSpPr>
          <p:cNvPr id="7" name="cover-body-0">
            <a:extLst xmlns:a="http://schemas.openxmlformats.org/drawingml/2006/main">
              <a:ext uri="{FF2B5EF4-FFF2-40B4-BE49-F238E27FC236}">
                <a16:creationId xmlns:a16="http://schemas.microsoft.com/office/drawing/2014/main" id="{56CA7F42-992D-4799-B066-863581BD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768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E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E626B"/>
                </a:solidFill>
                <a:latin typeface="Helvetica Neue"/>
                <a:ea typeface="Helvetica Neue"/>
                <a:cs typeface="Helvetica Neue"/>
              </a:rPr>
              <a:t>Build searchable evidence</a:t>
            </a:r>
          </a:p>
        </p:txBody>
      </p:sp>
      <p:sp>
        <p:nvSpPr>
          <p:cNvPr id="8" name="cover-index-1">
            <a:extLst xmlns:a="http://schemas.openxmlformats.org/drawingml/2006/main">
              <a:ext uri="{FF2B5EF4-FFF2-40B4-BE49-F238E27FC236}">
                <a16:creationId xmlns:a16="http://schemas.microsoft.com/office/drawing/2014/main" id="{71E631A1-4E09-4400-B3EC-ACC0F734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1816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cover-label-1">
            <a:extLst xmlns:a="http://schemas.openxmlformats.org/drawingml/2006/main">
              <a:ext uri="{FF2B5EF4-FFF2-40B4-BE49-F238E27FC236}">
                <a16:creationId xmlns:a16="http://schemas.microsoft.com/office/drawing/2014/main" id="{2E7432E8-2E88-46C9-8283-0399BBFB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530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Retrieve</a:t>
            </a:r>
          </a:p>
        </p:txBody>
      </p:sp>
      <p:sp>
        <p:nvSpPr>
          <p:cNvPr id="10" name="cover-body-1">
            <a:extLst xmlns:a="http://schemas.openxmlformats.org/drawingml/2006/main">
              <a:ext uri="{FF2B5EF4-FFF2-40B4-BE49-F238E27FC236}">
                <a16:creationId xmlns:a16="http://schemas.microsoft.com/office/drawing/2014/main" id="{D1AA06DD-5A7B-42D0-8E81-7F766743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768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E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E626B"/>
                </a:solidFill>
                <a:latin typeface="Helvetica Neue"/>
                <a:ea typeface="Helvetica Neue"/>
                <a:cs typeface="Helvetica Neue"/>
              </a:rPr>
              <a:t>Find what is permitted</a:t>
            </a:r>
          </a:p>
        </p:txBody>
      </p:sp>
      <p:sp>
        <p:nvSpPr>
          <p:cNvPr id="11" name="cover-index-2">
            <a:extLst xmlns:a="http://schemas.openxmlformats.org/drawingml/2006/main">
              <a:ext uri="{FF2B5EF4-FFF2-40B4-BE49-F238E27FC236}">
                <a16:creationId xmlns:a16="http://schemas.microsoft.com/office/drawing/2014/main" id="{AF245A42-A400-4586-80E5-FFFBE903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1816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cover-label-2">
            <a:extLst xmlns:a="http://schemas.openxmlformats.org/drawingml/2006/main">
              <a:ext uri="{FF2B5EF4-FFF2-40B4-BE49-F238E27FC236}">
                <a16:creationId xmlns:a16="http://schemas.microsoft.com/office/drawing/2014/main" id="{5331DBAE-AB9B-4F4A-AB44-C418BD07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530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Answer</a:t>
            </a:r>
          </a:p>
        </p:txBody>
      </p:sp>
      <p:sp>
        <p:nvSpPr>
          <p:cNvPr id="13" name="cover-body-2">
            <a:extLst xmlns:a="http://schemas.openxmlformats.org/drawingml/2006/main">
              <a:ext uri="{FF2B5EF4-FFF2-40B4-BE49-F238E27FC236}">
                <a16:creationId xmlns:a16="http://schemas.microsoft.com/office/drawing/2014/main" id="{52C58FF5-27F1-4AD9-92DE-0844C50F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768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E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E626B"/>
                </a:solidFill>
                <a:latin typeface="Helvetica Neue"/>
                <a:ea typeface="Helvetica Neue"/>
                <a:cs typeface="Helvetica Neue"/>
              </a:rPr>
              <a:t>Cite what supports it</a:t>
            </a:r>
          </a:p>
        </p:txBody>
      </p:sp>
    </p:spTree>
    <p:extLst>
      <p:ext uri="{BB962C8B-B14F-4D97-AF65-F5344CB8AC3E}">
        <p14:creationId xmlns:p14="http://schemas.microsoft.com/office/powerpoint/2010/main" val="12365641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chain-title">
            <a:extLst xmlns:a="http://schemas.openxmlformats.org/drawingml/2006/main">
              <a:ext uri="{FF2B5EF4-FFF2-40B4-BE49-F238E27FC236}">
                <a16:creationId xmlns:a16="http://schemas.microsoft.com/office/drawing/2014/main" id="{706EF678-DC0A-4140-BCDF-6A1CF909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RAG is a chain, not a single model call</a:t>
            </a:r>
          </a:p>
        </p:txBody>
      </p:sp>
      <p:sp>
        <p:nvSpPr>
          <p:cNvPr id="2" name="chain-subtitle">
            <a:extLst xmlns:a="http://schemas.openxmlformats.org/drawingml/2006/main">
              <a:ext uri="{FF2B5EF4-FFF2-40B4-BE49-F238E27FC236}">
                <a16:creationId xmlns:a16="http://schemas.microsoft.com/office/drawing/2014/main" id="{E21EC705-22A7-4F5D-BB04-E338CF00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E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5E626B"/>
                </a:solidFill>
                <a:latin typeface="Helvetica Neue"/>
                <a:ea typeface="Helvetica Neue"/>
                <a:cs typeface="Helvetica Neue"/>
              </a:rPr>
              <a:t>The model works from selected evidence and then checks the response.</a:t>
            </a:r>
          </a:p>
        </p:txBody>
      </p:sp>
      <p:sp>
        <p:nvSpPr>
          <p:cNvPr id="3" name="chain-arrow-1">
            <a:extLst xmlns:a="http://schemas.openxmlformats.org/drawingml/2006/main">
              <a:ext uri="{FF2B5EF4-FFF2-40B4-BE49-F238E27FC236}">
                <a16:creationId xmlns:a16="http://schemas.microsoft.com/office/drawing/2014/main" id="{C80EF0FD-71AA-4C19-9108-9D911781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24200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4" name="chain-arrow-2">
            <a:extLst xmlns:a="http://schemas.openxmlformats.org/drawingml/2006/main">
              <a:ext uri="{FF2B5EF4-FFF2-40B4-BE49-F238E27FC236}">
                <a16:creationId xmlns:a16="http://schemas.microsoft.com/office/drawing/2014/main" id="{DA69E278-E905-4CE0-8EB3-49973B8D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24200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5" name="step-panel-01">
            <a:extLst xmlns:a="http://schemas.openxmlformats.org/drawingml/2006/main">
              <a:ext uri="{FF2B5EF4-FFF2-40B4-BE49-F238E27FC236}">
                <a16:creationId xmlns:a16="http://schemas.microsoft.com/office/drawing/2014/main" id="{AF4AC5CD-68A3-43A8-9FEB-26A28827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8575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step-index-01">
            <a:extLst xmlns:a="http://schemas.openxmlformats.org/drawingml/2006/main">
              <a:ext uri="{FF2B5EF4-FFF2-40B4-BE49-F238E27FC236}">
                <a16:creationId xmlns:a16="http://schemas.microsoft.com/office/drawing/2014/main" id="{36A81AFB-E715-46CE-AB5C-7A447264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step-title-01">
            <a:extLst xmlns:a="http://schemas.openxmlformats.org/drawingml/2006/main">
              <a:ext uri="{FF2B5EF4-FFF2-40B4-BE49-F238E27FC236}">
                <a16:creationId xmlns:a16="http://schemas.microsoft.com/office/drawing/2014/main" id="{6E8B9718-178F-49E5-93FB-F2CB728E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Prepare</a:t>
            </a:r>
          </a:p>
        </p:txBody>
      </p:sp>
      <p:sp>
        <p:nvSpPr>
          <p:cNvPr id="8" name="step-body-01">
            <a:extLst xmlns:a="http://schemas.openxmlformats.org/drawingml/2006/main">
              <a:ext uri="{FF2B5EF4-FFF2-40B4-BE49-F238E27FC236}">
                <a16:creationId xmlns:a16="http://schemas.microsoft.com/office/drawing/2014/main" id="{E2361EF3-966D-48D4-953C-2F6ECBF7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5E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E626B"/>
                </a:solidFill>
                <a:latin typeface="Helvetica Neue"/>
                <a:ea typeface="Helvetica Neue"/>
                <a:cs typeface="Helvetica Neue"/>
              </a:rPr>
              <a:t>Files become verified chunks, embeddings, metadata, and provenance.</a:t>
            </a:r>
          </a:p>
        </p:txBody>
      </p:sp>
      <p:sp>
        <p:nvSpPr>
          <p:cNvPr id="9" name="step-panel-02">
            <a:extLst xmlns:a="http://schemas.openxmlformats.org/drawingml/2006/main">
              <a:ext uri="{FF2B5EF4-FFF2-40B4-BE49-F238E27FC236}">
                <a16:creationId xmlns:a16="http://schemas.microsoft.com/office/drawing/2014/main" id="{F9612673-0A59-4C31-B956-6321E37E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86000"/>
            <a:ext cx="28575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step-index-02">
            <a:extLst xmlns:a="http://schemas.openxmlformats.org/drawingml/2006/main">
              <a:ext uri="{FF2B5EF4-FFF2-40B4-BE49-F238E27FC236}">
                <a16:creationId xmlns:a16="http://schemas.microsoft.com/office/drawing/2014/main" id="{8B962389-C7C3-48E5-92B1-EBBF6F41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574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step-title-02">
            <a:extLst xmlns:a="http://schemas.openxmlformats.org/drawingml/2006/main">
              <a:ext uri="{FF2B5EF4-FFF2-40B4-BE49-F238E27FC236}">
                <a16:creationId xmlns:a16="http://schemas.microsoft.com/office/drawing/2014/main" id="{CDB35DC8-E3D0-4028-A71C-5A72902A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575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Retrieve</a:t>
            </a:r>
          </a:p>
        </p:txBody>
      </p:sp>
      <p:sp>
        <p:nvSpPr>
          <p:cNvPr id="12" name="step-body-02">
            <a:extLst xmlns:a="http://schemas.openxmlformats.org/drawingml/2006/main">
              <a:ext uri="{FF2B5EF4-FFF2-40B4-BE49-F238E27FC236}">
                <a16:creationId xmlns:a16="http://schemas.microsoft.com/office/drawing/2014/main" id="{1CC10AD6-0D0F-44EB-BA6C-F11D767E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1470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5E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E626B"/>
                </a:solidFill>
                <a:latin typeface="Helvetica Neue"/>
                <a:ea typeface="Helvetica Neue"/>
                <a:cs typeface="Helvetica Neue"/>
              </a:rPr>
              <a:t>The query API routes sources and applies access and version filters.</a:t>
            </a:r>
          </a:p>
        </p:txBody>
      </p:sp>
      <p:sp>
        <p:nvSpPr>
          <p:cNvPr id="13" name="step-panel-03">
            <a:extLst xmlns:a="http://schemas.openxmlformats.org/drawingml/2006/main">
              <a:ext uri="{FF2B5EF4-FFF2-40B4-BE49-F238E27FC236}">
                <a16:creationId xmlns:a16="http://schemas.microsoft.com/office/drawing/2014/main" id="{5F2320CA-2D81-425D-B88C-42F7BF1D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86000"/>
            <a:ext cx="28575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step-index-03">
            <a:extLst xmlns:a="http://schemas.openxmlformats.org/drawingml/2006/main">
              <a:ext uri="{FF2B5EF4-FFF2-40B4-BE49-F238E27FC236}">
                <a16:creationId xmlns:a16="http://schemas.microsoft.com/office/drawing/2014/main" id="{F31ADE2C-36DB-42F3-A5DE-6C597162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574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step-title-03">
            <a:extLst xmlns:a="http://schemas.openxmlformats.org/drawingml/2006/main">
              <a:ext uri="{FF2B5EF4-FFF2-40B4-BE49-F238E27FC236}">
                <a16:creationId xmlns:a16="http://schemas.microsoft.com/office/drawing/2014/main" id="{B6E93827-EE14-4B2C-BA51-85E46E04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575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Answer</a:t>
            </a:r>
          </a:p>
        </p:txBody>
      </p:sp>
      <p:sp>
        <p:nvSpPr>
          <p:cNvPr id="16" name="step-body-03">
            <a:extLst xmlns:a="http://schemas.openxmlformats.org/drawingml/2006/main">
              <a:ext uri="{FF2B5EF4-FFF2-40B4-BE49-F238E27FC236}">
                <a16:creationId xmlns:a16="http://schemas.microsoft.com/office/drawing/2014/main" id="{F582F4A4-0409-4512-A4C9-3DFD3588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1470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>
                <a:solidFill>
                  <a:srgbClr val="5E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E626B"/>
                </a:solidFill>
                <a:latin typeface="Helvetica Neue"/>
                <a:ea typeface="Helvetica Neue"/>
                <a:cs typeface="Helvetica Neue"/>
              </a:rPr>
              <a:t>Evidence is merged, checked, cited, or flagged when support is weak.</a:t>
            </a:r>
          </a:p>
        </p:txBody>
      </p:sp>
      <p:sp>
        <p:nvSpPr>
          <p:cNvPr id="17" name="chain-bottom-rule">
            <a:extLst xmlns:a="http://schemas.openxmlformats.org/drawingml/2006/main">
              <a:ext uri="{FF2B5EF4-FFF2-40B4-BE49-F238E27FC236}">
                <a16:creationId xmlns:a16="http://schemas.microsoft.com/office/drawing/2014/main" id="{D4A34E8A-7902-4429-8499-4AC6F74E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chain-takeaway">
            <a:extLst xmlns:a="http://schemas.openxmlformats.org/drawingml/2006/main">
              <a:ext uri="{FF2B5EF4-FFF2-40B4-BE49-F238E27FC236}">
                <a16:creationId xmlns:a16="http://schemas.microsoft.com/office/drawing/2014/main" id="{7299D14F-EDEF-4186-942C-1D4BF118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useful output is an answer with a traceable reason.</a:t>
            </a:r>
          </a:p>
        </p:txBody>
      </p:sp>
      <p:sp>
        <p:nvSpPr>
          <p:cNvPr id="19" name="footer-2">
            <a:extLst xmlns:a="http://schemas.openxmlformats.org/drawingml/2006/main">
              <a:ext uri="{FF2B5EF4-FFF2-40B4-BE49-F238E27FC236}">
                <a16:creationId xmlns:a16="http://schemas.microsoft.com/office/drawing/2014/main" id="{B85C6F9E-8D1A-4073-B1BE-F55007EA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2865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E626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314267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ingestion-title">
            <a:extLst xmlns:a="http://schemas.openxmlformats.org/drawingml/2006/main">
              <a:ext uri="{FF2B5EF4-FFF2-40B4-BE49-F238E27FC236}">
                <a16:creationId xmlns:a16="http://schemas.microsoft.com/office/drawing/2014/main" id="{DCCBCF26-280C-4E07-AA30-C1FF14E6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Ingestion prepares evidence before anyone asks</a:t>
            </a:r>
          </a:p>
        </p:txBody>
      </p:sp>
      <p:sp>
        <p:nvSpPr>
          <p:cNvPr id="2" name="ingestion-copy">
            <a:extLst xmlns:a="http://schemas.openxmlformats.org/drawingml/2006/main">
              <a:ext uri="{FF2B5EF4-FFF2-40B4-BE49-F238E27FC236}">
                <a16:creationId xmlns:a16="http://schemas.microsoft.com/office/drawing/2014/main" id="{055FE538-901E-49B3-8AD9-D94347FE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4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5E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5E626B"/>
                </a:solidFill>
                <a:latin typeface="Helvetica Neue"/>
                <a:ea typeface="Helvetica Neue"/>
                <a:cs typeface="Helvetica Neue"/>
              </a:rPr>
              <a:t>A file becomes searchable only after storage, worker processing, review when needed, chunking, embedding, verification, and activation.</a:t>
            </a:r>
          </a:p>
        </p:txBody>
      </p:sp>
      <p:sp>
        <p:nvSpPr>
          <p:cNvPr id="3" name="ingestion-index-0">
            <a:extLst xmlns:a="http://schemas.openxmlformats.org/drawingml/2006/main">
              <a:ext uri="{FF2B5EF4-FFF2-40B4-BE49-F238E27FC236}">
                <a16:creationId xmlns:a16="http://schemas.microsoft.com/office/drawing/2014/main" id="{661009CC-7E3A-4111-9B34-10AF583A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ingestion-step-rule-0">
            <a:extLst xmlns:a="http://schemas.openxmlformats.org/drawingml/2006/main">
              <a:ext uri="{FF2B5EF4-FFF2-40B4-BE49-F238E27FC236}">
                <a16:creationId xmlns:a16="http://schemas.microsoft.com/office/drawing/2014/main" id="{C8677E1D-6524-40B5-B338-0AC35212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051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DCBF4"/>
            </a:solidFill>
            <a:prstDash val="solid"/>
          </a:ln>
        </p:spPr>
      </p:sp>
      <p:sp>
        <p:nvSpPr>
          <p:cNvPr id="5" name="ingestion-step-0">
            <a:extLst xmlns:a="http://schemas.openxmlformats.org/drawingml/2006/main">
              <a:ext uri="{FF2B5EF4-FFF2-40B4-BE49-F238E27FC236}">
                <a16:creationId xmlns:a16="http://schemas.microsoft.com/office/drawing/2014/main" id="{62626341-CD05-478E-A7F7-FA5F6A7F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527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Upload + validate</a:t>
            </a:r>
          </a:p>
        </p:txBody>
      </p:sp>
      <p:sp>
        <p:nvSpPr>
          <p:cNvPr id="6" name="ingestion-step-detail-0">
            <a:extLst xmlns:a="http://schemas.openxmlformats.org/drawingml/2006/main">
              <a:ext uri="{FF2B5EF4-FFF2-40B4-BE49-F238E27FC236}">
                <a16:creationId xmlns:a16="http://schemas.microsoft.com/office/drawing/2014/main" id="{2B7F5E87-DE0C-436A-B9F9-B51232C7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765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E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E626B"/>
                </a:solidFill>
                <a:latin typeface="Helvetica Neue"/>
                <a:ea typeface="Helvetica Neue"/>
                <a:cs typeface="Helvetica Neue"/>
              </a:rPr>
              <a:t>→ object storage</a:t>
            </a:r>
          </a:p>
        </p:txBody>
      </p:sp>
      <p:sp>
        <p:nvSpPr>
          <p:cNvPr id="7" name="ingestion-index-1">
            <a:extLst xmlns:a="http://schemas.openxmlformats.org/drawingml/2006/main">
              <a:ext uri="{FF2B5EF4-FFF2-40B4-BE49-F238E27FC236}">
                <a16:creationId xmlns:a16="http://schemas.microsoft.com/office/drawing/2014/main" id="{9CDDE8B2-1AA3-4965-9968-CD96C4A1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ingestion-step-rule-1">
            <a:extLst xmlns:a="http://schemas.openxmlformats.org/drawingml/2006/main">
              <a:ext uri="{FF2B5EF4-FFF2-40B4-BE49-F238E27FC236}">
                <a16:creationId xmlns:a16="http://schemas.microsoft.com/office/drawing/2014/main" id="{CE0F050F-1293-4205-8751-A82E0F8B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718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DCBF4"/>
            </a:solidFill>
            <a:prstDash val="solid"/>
          </a:ln>
        </p:spPr>
      </p:sp>
      <p:sp>
        <p:nvSpPr>
          <p:cNvPr id="9" name="ingestion-step-1">
            <a:extLst xmlns:a="http://schemas.openxmlformats.org/drawingml/2006/main">
              <a:ext uri="{FF2B5EF4-FFF2-40B4-BE49-F238E27FC236}">
                <a16:creationId xmlns:a16="http://schemas.microsoft.com/office/drawing/2014/main" id="{D955CBD1-F871-4C94-A914-B261577B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194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Extract + review</a:t>
            </a:r>
          </a:p>
        </p:txBody>
      </p:sp>
      <p:sp>
        <p:nvSpPr>
          <p:cNvPr id="10" name="ingestion-step-detail-1">
            <a:extLst xmlns:a="http://schemas.openxmlformats.org/drawingml/2006/main">
              <a:ext uri="{FF2B5EF4-FFF2-40B4-BE49-F238E27FC236}">
                <a16:creationId xmlns:a16="http://schemas.microsoft.com/office/drawing/2014/main" id="{A7F4C70B-9037-4089-80E4-16C8E29A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433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E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E626B"/>
                </a:solidFill>
                <a:latin typeface="Helvetica Neue"/>
                <a:ea typeface="Helvetica Neue"/>
                <a:cs typeface="Helvetica Neue"/>
              </a:rPr>
              <a:t>→ pipeline worker + human gate</a:t>
            </a:r>
          </a:p>
        </p:txBody>
      </p:sp>
      <p:sp>
        <p:nvSpPr>
          <p:cNvPr id="11" name="ingestion-index-2">
            <a:extLst xmlns:a="http://schemas.openxmlformats.org/drawingml/2006/main">
              <a:ext uri="{FF2B5EF4-FFF2-40B4-BE49-F238E27FC236}">
                <a16:creationId xmlns:a16="http://schemas.microsoft.com/office/drawing/2014/main" id="{48F00CCA-AAA7-41ED-9A8D-136EFFE8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ingestion-step-rule-2">
            <a:extLst xmlns:a="http://schemas.openxmlformats.org/drawingml/2006/main">
              <a:ext uri="{FF2B5EF4-FFF2-40B4-BE49-F238E27FC236}">
                <a16:creationId xmlns:a16="http://schemas.microsoft.com/office/drawing/2014/main" id="{E85A35F2-FE96-4927-B605-53BE2D98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386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DCBF4"/>
            </a:solidFill>
            <a:prstDash val="solid"/>
          </a:ln>
        </p:spPr>
      </p:sp>
      <p:sp>
        <p:nvSpPr>
          <p:cNvPr id="13" name="ingestion-step-2">
            <a:extLst xmlns:a="http://schemas.openxmlformats.org/drawingml/2006/main">
              <a:ext uri="{FF2B5EF4-FFF2-40B4-BE49-F238E27FC236}">
                <a16:creationId xmlns:a16="http://schemas.microsoft.com/office/drawing/2014/main" id="{D429F292-CE05-4086-B9DE-3DF829CF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862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Chunk + embed</a:t>
            </a:r>
          </a:p>
        </p:txBody>
      </p:sp>
      <p:sp>
        <p:nvSpPr>
          <p:cNvPr id="14" name="ingestion-step-detail-2">
            <a:extLst xmlns:a="http://schemas.openxmlformats.org/drawingml/2006/main">
              <a:ext uri="{FF2B5EF4-FFF2-40B4-BE49-F238E27FC236}">
                <a16:creationId xmlns:a16="http://schemas.microsoft.com/office/drawing/2014/main" id="{FE1D1ED0-7490-4DA1-AA86-1FE44E34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100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E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E626B"/>
                </a:solidFill>
                <a:latin typeface="Helvetica Neue"/>
                <a:ea typeface="Helvetica Neue"/>
                <a:cs typeface="Helvetica Neue"/>
              </a:rPr>
              <a:t>→ vector + metadata stores</a:t>
            </a:r>
          </a:p>
        </p:txBody>
      </p:sp>
      <p:sp>
        <p:nvSpPr>
          <p:cNvPr id="15" name="ingestion-index-3">
            <a:extLst xmlns:a="http://schemas.openxmlformats.org/drawingml/2006/main">
              <a:ext uri="{FF2B5EF4-FFF2-40B4-BE49-F238E27FC236}">
                <a16:creationId xmlns:a16="http://schemas.microsoft.com/office/drawing/2014/main" id="{FC53EBD5-EB24-4DCD-AC63-872C2837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ingestion-step-rule-3">
            <a:extLst xmlns:a="http://schemas.openxmlformats.org/drawingml/2006/main">
              <a:ext uri="{FF2B5EF4-FFF2-40B4-BE49-F238E27FC236}">
                <a16:creationId xmlns:a16="http://schemas.microsoft.com/office/drawing/2014/main" id="{F795A763-ABFD-47A5-AD28-3CE887AC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053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DCBF4"/>
            </a:solidFill>
            <a:prstDash val="solid"/>
          </a:ln>
        </p:spPr>
      </p:sp>
      <p:sp>
        <p:nvSpPr>
          <p:cNvPr id="17" name="ingestion-step-3">
            <a:extLst xmlns:a="http://schemas.openxmlformats.org/drawingml/2006/main">
              <a:ext uri="{FF2B5EF4-FFF2-40B4-BE49-F238E27FC236}">
                <a16:creationId xmlns:a16="http://schemas.microsoft.com/office/drawing/2014/main" id="{7BF3BD49-C897-458A-B822-EE62EF7D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529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Verify + activate</a:t>
            </a:r>
          </a:p>
        </p:txBody>
      </p:sp>
      <p:sp>
        <p:nvSpPr>
          <p:cNvPr id="18" name="ingestion-step-detail-3">
            <a:extLst xmlns:a="http://schemas.openxmlformats.org/drawingml/2006/main">
              <a:ext uri="{FF2B5EF4-FFF2-40B4-BE49-F238E27FC236}">
                <a16:creationId xmlns:a16="http://schemas.microsoft.com/office/drawing/2014/main" id="{E55D40E8-5CAB-49FD-940F-75BBDD59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768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E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5E626B"/>
                </a:solidFill>
                <a:latin typeface="Helvetica Neue"/>
                <a:ea typeface="Helvetica Neue"/>
                <a:cs typeface="Helvetica Neue"/>
              </a:rPr>
              <a:t>→ current retrieval surface</a:t>
            </a:r>
          </a:p>
        </p:txBody>
      </p:sp>
      <p:sp>
        <p:nvSpPr>
          <p:cNvPr id="19" name="ingestion-callout">
            <a:extLst xmlns:a="http://schemas.openxmlformats.org/drawingml/2006/main">
              <a:ext uri="{FF2B5EF4-FFF2-40B4-BE49-F238E27FC236}">
                <a16:creationId xmlns:a16="http://schemas.microsoft.com/office/drawing/2014/main" id="{DC86973F-0247-4DAA-8001-4E30FB05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476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20" name="ingestion-callout-text">
            <a:extLst xmlns:a="http://schemas.openxmlformats.org/drawingml/2006/main">
              <a:ext uri="{FF2B5EF4-FFF2-40B4-BE49-F238E27FC236}">
                <a16:creationId xmlns:a16="http://schemas.microsoft.com/office/drawing/2014/main" id="{6923FF09-8FAE-4826-A491-882D930A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3880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82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Only the verified current generation becomes the retrieval surface.</a:t>
            </a:r>
          </a:p>
        </p:txBody>
      </p:sp>
      <p:sp>
        <p:nvSpPr>
          <p:cNvPr id="21" name="ingestion-image-frame">
            <a:extLst xmlns:a="http://schemas.openxmlformats.org/drawingml/2006/main">
              <a:ext uri="{FF2B5EF4-FFF2-40B4-BE49-F238E27FC236}">
                <a16:creationId xmlns:a16="http://schemas.microsoft.com/office/drawing/2014/main" id="{51E8158A-293B-49D7-BE43-8ABDD123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00150"/>
            <a:ext cx="53340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dacfb3846142c5"/>
          <a:stretch xmlns:a="http://schemas.openxmlformats.org/drawingml/2006/main"/>
        </p:blipFill>
        <p:spPr>
          <a:xfrm xmlns:a="http://schemas.openxmlformats.org/drawingml/2006/main">
            <a:off x="8001236" y="1352550"/>
            <a:ext cx="1428278" cy="4629150"/>
          </a:xfrm>
          <a:prstGeom xmlns:a="http://schemas.openxmlformats.org/drawingml/2006/main" prst="rect">
            <a:avLst/>
          </a:prstGeom>
        </p:spPr>
      </p:pic>
      <p:sp>
        <p:nvSpPr>
          <p:cNvPr id="23" name="footer-3">
            <a:extLst xmlns:a="http://schemas.openxmlformats.org/drawingml/2006/main">
              <a:ext uri="{FF2B5EF4-FFF2-40B4-BE49-F238E27FC236}">
                <a16:creationId xmlns:a16="http://schemas.microsoft.com/office/drawing/2014/main" id="{8C48F3A7-0E81-4429-94C0-CDF7BEB5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2865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E626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46366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query-title">
            <a:extLst xmlns:a="http://schemas.openxmlformats.org/drawingml/2006/main">
              <a:ext uri="{FF2B5EF4-FFF2-40B4-BE49-F238E27FC236}">
                <a16:creationId xmlns:a16="http://schemas.microsoft.com/office/drawing/2014/main" id="{91B99729-C48D-4D25-895C-5E8606FC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query flow filters, finds, and checks</a:t>
            </a:r>
          </a:p>
        </p:txBody>
      </p:sp>
      <p:sp>
        <p:nvSpPr>
          <p:cNvPr id="2" name="query-copy">
            <a:extLst xmlns:a="http://schemas.openxmlformats.org/drawingml/2006/main">
              <a:ext uri="{FF2B5EF4-FFF2-40B4-BE49-F238E27FC236}">
                <a16:creationId xmlns:a16="http://schemas.microsoft.com/office/drawing/2014/main" id="{B8778036-8C47-4D07-AD5D-406E0182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238250"/>
            <a:ext cx="457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9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>
                <a:solidFill>
                  <a:srgbClr val="5E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5E626B"/>
                </a:solidFill>
                <a:latin typeface="Helvetica Neue"/>
                <a:ea typeface="Helvetica Neue"/>
                <a:cs typeface="Helvetica Neue"/>
              </a:rPr>
              <a:t>The query API routes the question, filters evidence before retrieval, and returns a cited answer.</a:t>
            </a:r>
          </a:p>
        </p:txBody>
      </p:sp>
      <p:sp>
        <p:nvSpPr>
          <p:cNvPr id="3" name="query-image-frame">
            <a:extLst xmlns:a="http://schemas.openxmlformats.org/drawingml/2006/main">
              <a:ext uri="{FF2B5EF4-FFF2-40B4-BE49-F238E27FC236}">
                <a16:creationId xmlns:a16="http://schemas.microsoft.com/office/drawing/2014/main" id="{F5A99EAA-05D6-4D32-867A-B096891A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3340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049766c2b94a7c"/>
          <a:stretch xmlns:a="http://schemas.openxmlformats.org/drawingml/2006/main"/>
        </p:blipFill>
        <p:spPr>
          <a:xfrm xmlns:a="http://schemas.openxmlformats.org/drawingml/2006/main">
            <a:off x="2501049" y="1390650"/>
            <a:ext cx="1703503" cy="4667250"/>
          </a:xfrm>
          <a:prstGeom xmlns:a="http://schemas.openxmlformats.org/drawingml/2006/main" prst="rect">
            <a:avLst/>
          </a:prstGeom>
        </p:spPr>
      </p:pic>
      <p:sp>
        <p:nvSpPr>
          <p:cNvPr id="5" name="query-label-0">
            <a:extLst xmlns:a="http://schemas.openxmlformats.org/drawingml/2006/main">
              <a:ext uri="{FF2B5EF4-FFF2-40B4-BE49-F238E27FC236}">
                <a16:creationId xmlns:a16="http://schemas.microsoft.com/office/drawing/2014/main" id="{BAA8EDF4-EBA5-4297-8059-0B55FA20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Route</a:t>
            </a:r>
          </a:p>
        </p:txBody>
      </p:sp>
      <p:sp>
        <p:nvSpPr>
          <p:cNvPr id="6" name="query-body-0">
            <a:extLst xmlns:a="http://schemas.openxmlformats.org/drawingml/2006/main">
              <a:ext uri="{FF2B5EF4-FFF2-40B4-BE49-F238E27FC236}">
                <a16:creationId xmlns:a16="http://schemas.microsoft.com/office/drawing/2014/main" id="{34B7A2FC-1BE4-4243-B467-F9F09515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38450"/>
            <a:ext cx="428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query API → documents, approved live data, or optional GraphRAG</a:t>
            </a:r>
          </a:p>
        </p:txBody>
      </p:sp>
      <p:sp>
        <p:nvSpPr>
          <p:cNvPr id="7" name="query-label-1">
            <a:extLst xmlns:a="http://schemas.openxmlformats.org/drawingml/2006/main">
              <a:ext uri="{FF2B5EF4-FFF2-40B4-BE49-F238E27FC236}">
                <a16:creationId xmlns:a16="http://schemas.microsoft.com/office/drawing/2014/main" id="{A667D2B6-4A88-4FC1-99E7-48C36423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242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Protect</a:t>
            </a:r>
          </a:p>
        </p:txBody>
      </p:sp>
      <p:sp>
        <p:nvSpPr>
          <p:cNvPr id="8" name="query-body-1">
            <a:extLst xmlns:a="http://schemas.openxmlformats.org/drawingml/2006/main">
              <a:ext uri="{FF2B5EF4-FFF2-40B4-BE49-F238E27FC236}">
                <a16:creationId xmlns:a16="http://schemas.microsoft.com/office/drawing/2014/main" id="{4D79E8A8-9311-48E8-8CA6-5B7969DD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86200"/>
            <a:ext cx="428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Knowledge Space + RBAC + clearance + current-version filters before evidence leaves storage</a:t>
            </a:r>
          </a:p>
        </p:txBody>
      </p:sp>
      <p:sp>
        <p:nvSpPr>
          <p:cNvPr id="9" name="query-label-2">
            <a:extLst xmlns:a="http://schemas.openxmlformats.org/drawingml/2006/main">
              <a:ext uri="{FF2B5EF4-FFF2-40B4-BE49-F238E27FC236}">
                <a16:creationId xmlns:a16="http://schemas.microsoft.com/office/drawing/2014/main" id="{FB18F8FB-21C1-468D-9274-1414E113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720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Check</a:t>
            </a:r>
          </a:p>
        </p:txBody>
      </p:sp>
      <p:sp>
        <p:nvSpPr>
          <p:cNvPr id="10" name="query-body-2">
            <a:extLst xmlns:a="http://schemas.openxmlformats.org/drawingml/2006/main">
              <a:ext uri="{FF2B5EF4-FFF2-40B4-BE49-F238E27FC236}">
                <a16:creationId xmlns:a16="http://schemas.microsoft.com/office/drawing/2014/main" id="{670A7FAD-8BBD-47E9-B493-F1B52816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33950"/>
            <a:ext cx="428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merge + rerank → verify + cite → flag uncertainty</a:t>
            </a:r>
          </a:p>
        </p:txBody>
      </p:sp>
      <p:sp>
        <p:nvSpPr>
          <p:cNvPr id="11" name="query-bottom-rule">
            <a:extLst xmlns:a="http://schemas.openxmlformats.org/drawingml/2006/main">
              <a:ext uri="{FF2B5EF4-FFF2-40B4-BE49-F238E27FC236}">
                <a16:creationId xmlns:a16="http://schemas.microsoft.com/office/drawing/2014/main" id="{79D1E9D7-01FB-4F93-B9B8-E87B7383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5785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2" name="query-takeaway">
            <a:extLst xmlns:a="http://schemas.openxmlformats.org/drawingml/2006/main">
              <a:ext uri="{FF2B5EF4-FFF2-40B4-BE49-F238E27FC236}">
                <a16:creationId xmlns:a16="http://schemas.microsoft.com/office/drawing/2014/main" id="{77A4F866-1431-48B3-BAC8-43FE8B4A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7912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12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Weak evidence → correct the route, answer partially, or abstain.</a:t>
            </a:r>
          </a:p>
        </p:txBody>
      </p:sp>
      <p:sp>
        <p:nvSpPr>
          <p:cNvPr id="13" name="footer-4">
            <a:extLst xmlns:a="http://schemas.openxmlformats.org/drawingml/2006/main">
              <a:ext uri="{FF2B5EF4-FFF2-40B4-BE49-F238E27FC236}">
                <a16:creationId xmlns:a16="http://schemas.microsoft.com/office/drawing/2014/main" id="{D7AB73CA-6E53-496D-A116-72B5105C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2865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E626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305892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features-title">
            <a:extLst xmlns:a="http://schemas.openxmlformats.org/drawingml/2006/main">
              <a:ext uri="{FF2B5EF4-FFF2-40B4-BE49-F238E27FC236}">
                <a16:creationId xmlns:a16="http://schemas.microsoft.com/office/drawing/2014/main" id="{AA860654-7118-4F86-A5CC-648B3639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controls make this RAG enterprise-ready</a:t>
            </a:r>
          </a:p>
        </p:txBody>
      </p:sp>
      <p:sp>
        <p:nvSpPr>
          <p:cNvPr id="2" name="features-copy">
            <a:extLst xmlns:a="http://schemas.openxmlformats.org/drawingml/2006/main">
              <a:ext uri="{FF2B5EF4-FFF2-40B4-BE49-F238E27FC236}">
                <a16:creationId xmlns:a16="http://schemas.microsoft.com/office/drawing/2014/main" id="{F6CA2C3F-1D69-487A-83BB-0D0C2EC3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934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E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5E626B"/>
                </a:solidFill>
                <a:latin typeface="Helvetica Neue"/>
                <a:ea typeface="Helvetica Neue"/>
                <a:cs typeface="Helvetica Neue"/>
              </a:rPr>
              <a:t>The retrieval model is only one part; governance keeps the answer safe, current, and inspectable.</a:t>
            </a:r>
          </a:p>
        </p:txBody>
      </p:sp>
      <p:sp>
        <p:nvSpPr>
          <p:cNvPr id="3" name="features-accent">
            <a:extLst xmlns:a="http://schemas.openxmlformats.org/drawingml/2006/main">
              <a:ext uri="{FF2B5EF4-FFF2-40B4-BE49-F238E27FC236}">
                <a16:creationId xmlns:a16="http://schemas.microsoft.com/office/drawing/2014/main" id="{72641512-2A6A-43A3-8173-141AD2F7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7625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features-index-0">
            <a:extLst xmlns:a="http://schemas.openxmlformats.org/drawingml/2006/main">
              <a:ext uri="{FF2B5EF4-FFF2-40B4-BE49-F238E27FC236}">
                <a16:creationId xmlns:a16="http://schemas.microsoft.com/office/drawing/2014/main" id="{3883CC90-88B9-4C91-BDD6-84FA61B5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features-label-0">
            <a:extLst xmlns:a="http://schemas.openxmlformats.org/drawingml/2006/main">
              <a:ext uri="{FF2B5EF4-FFF2-40B4-BE49-F238E27FC236}">
                <a16:creationId xmlns:a16="http://schemas.microsoft.com/office/drawing/2014/main" id="{99894464-DA28-48A1-9EAB-6AB33470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8669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Isolate</a:t>
            </a:r>
          </a:p>
        </p:txBody>
      </p:sp>
      <p:sp>
        <p:nvSpPr>
          <p:cNvPr id="6" name="features-body-0">
            <a:extLst xmlns:a="http://schemas.openxmlformats.org/drawingml/2006/main">
              <a:ext uri="{FF2B5EF4-FFF2-40B4-BE49-F238E27FC236}">
                <a16:creationId xmlns:a16="http://schemas.microsoft.com/office/drawing/2014/main" id="{E9942EF1-1CFB-40E4-A94C-E857DA22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954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E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E626B"/>
                </a:solidFill>
                <a:latin typeface="Helvetica Neue"/>
                <a:ea typeface="Helvetica Neue"/>
                <a:cs typeface="Helvetica Neue"/>
              </a:rPr>
              <a:t>Knowledge Spaces separate teams, document scopes, and approved connector access.</a:t>
            </a:r>
          </a:p>
        </p:txBody>
      </p:sp>
      <p:sp>
        <p:nvSpPr>
          <p:cNvPr id="7" name="features-rule-0">
            <a:extLst xmlns:a="http://schemas.openxmlformats.org/drawingml/2006/main">
              <a:ext uri="{FF2B5EF4-FFF2-40B4-BE49-F238E27FC236}">
                <a16:creationId xmlns:a16="http://schemas.microsoft.com/office/drawing/2014/main" id="{CDC0ACFB-0FE3-4C44-99E4-F1C301C2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812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features-index-1">
            <a:extLst xmlns:a="http://schemas.openxmlformats.org/drawingml/2006/main">
              <a:ext uri="{FF2B5EF4-FFF2-40B4-BE49-F238E27FC236}">
                <a16:creationId xmlns:a16="http://schemas.microsoft.com/office/drawing/2014/main" id="{E80C8300-67A7-46C7-BA30-B8B8140A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features-label-1">
            <a:extLst xmlns:a="http://schemas.openxmlformats.org/drawingml/2006/main">
              <a:ext uri="{FF2B5EF4-FFF2-40B4-BE49-F238E27FC236}">
                <a16:creationId xmlns:a16="http://schemas.microsoft.com/office/drawing/2014/main" id="{3C019136-A864-4F1D-A783-ABE8C003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146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Authorize</a:t>
            </a:r>
          </a:p>
        </p:txBody>
      </p:sp>
      <p:sp>
        <p:nvSpPr>
          <p:cNvPr id="10" name="features-body-1">
            <a:extLst xmlns:a="http://schemas.openxmlformats.org/drawingml/2006/main">
              <a:ext uri="{FF2B5EF4-FFF2-40B4-BE49-F238E27FC236}">
                <a16:creationId xmlns:a16="http://schemas.microsoft.com/office/drawing/2014/main" id="{0F2D953E-2414-461C-A4F4-61B65C4D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431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E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E626B"/>
                </a:solidFill>
                <a:latin typeface="Helvetica Neue"/>
                <a:ea typeface="Helvetica Neue"/>
                <a:cs typeface="Helvetica Neue"/>
              </a:rPr>
              <a:t>RBAC, space membership, clearance, and current-version filters govern every retrieval.</a:t>
            </a:r>
          </a:p>
        </p:txBody>
      </p:sp>
      <p:sp>
        <p:nvSpPr>
          <p:cNvPr id="11" name="features-rule-1">
            <a:extLst xmlns:a="http://schemas.openxmlformats.org/drawingml/2006/main">
              <a:ext uri="{FF2B5EF4-FFF2-40B4-BE49-F238E27FC236}">
                <a16:creationId xmlns:a16="http://schemas.microsoft.com/office/drawing/2014/main" id="{13F0102C-BDE7-4BB9-B551-CABF6E4A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0289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features-index-2">
            <a:extLst xmlns:a="http://schemas.openxmlformats.org/drawingml/2006/main">
              <a:ext uri="{FF2B5EF4-FFF2-40B4-BE49-F238E27FC236}">
                <a16:creationId xmlns:a16="http://schemas.microsoft.com/office/drawing/2014/main" id="{81F3772F-83DC-4E90-AE45-5B7AE2FA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features-label-2">
            <a:extLst xmlns:a="http://schemas.openxmlformats.org/drawingml/2006/main">
              <a:ext uri="{FF2B5EF4-FFF2-40B4-BE49-F238E27FC236}">
                <a16:creationId xmlns:a16="http://schemas.microsoft.com/office/drawing/2014/main" id="{A4DE44DA-3EF5-4E67-8BC0-FDC84E4B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623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Govern</a:t>
            </a:r>
          </a:p>
        </p:txBody>
      </p:sp>
      <p:sp>
        <p:nvSpPr>
          <p:cNvPr id="14" name="features-body-2">
            <a:extLst xmlns:a="http://schemas.openxmlformats.org/drawingml/2006/main">
              <a:ext uri="{FF2B5EF4-FFF2-40B4-BE49-F238E27FC236}">
                <a16:creationId xmlns:a16="http://schemas.microsoft.com/office/drawing/2014/main" id="{0E837C45-13A8-4F9D-AC1E-ABD98914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908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E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E626B"/>
                </a:solidFill>
                <a:latin typeface="Helvetica Neue"/>
                <a:ea typeface="Helvetica Neue"/>
                <a:cs typeface="Helvetica Neue"/>
              </a:rPr>
              <a:t>Provenance, document lifecycle, citations, and audit events keep evidence traceable.</a:t>
            </a:r>
          </a:p>
        </p:txBody>
      </p:sp>
      <p:sp>
        <p:nvSpPr>
          <p:cNvPr id="15" name="features-rule-2">
            <a:extLst xmlns:a="http://schemas.openxmlformats.org/drawingml/2006/main">
              <a:ext uri="{FF2B5EF4-FFF2-40B4-BE49-F238E27FC236}">
                <a16:creationId xmlns:a16="http://schemas.microsoft.com/office/drawing/2014/main" id="{A1BC166F-EFB1-4C82-81FF-F00A90B5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6766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features-index-3">
            <a:extLst xmlns:a="http://schemas.openxmlformats.org/drawingml/2006/main">
              <a:ext uri="{FF2B5EF4-FFF2-40B4-BE49-F238E27FC236}">
                <a16:creationId xmlns:a16="http://schemas.microsoft.com/office/drawing/2014/main" id="{48A6688F-52BE-479B-93F2-B8C5F89A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features-label-3">
            <a:extLst xmlns:a="http://schemas.openxmlformats.org/drawingml/2006/main">
              <a:ext uri="{FF2B5EF4-FFF2-40B4-BE49-F238E27FC236}">
                <a16:creationId xmlns:a16="http://schemas.microsoft.com/office/drawing/2014/main" id="{3C8DF541-709E-4196-9B48-81C2FFCA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8100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Review + recover</a:t>
            </a:r>
          </a:p>
        </p:txBody>
      </p:sp>
      <p:sp>
        <p:nvSpPr>
          <p:cNvPr id="18" name="features-body-3">
            <a:extLst xmlns:a="http://schemas.openxmlformats.org/drawingml/2006/main">
              <a:ext uri="{FF2B5EF4-FFF2-40B4-BE49-F238E27FC236}">
                <a16:creationId xmlns:a16="http://schemas.microsoft.com/office/drawing/2014/main" id="{31F67FA7-8A9B-49D1-997A-63C00DFA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385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E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E626B"/>
                </a:solidFill>
                <a:latin typeface="Helvetica Neue"/>
                <a:ea typeface="Helvetica Neue"/>
                <a:cs typeface="Helvetica Neue"/>
              </a:rPr>
              <a:t>Low-confidence OCR can pause for humans; durable jobs expose status, retries, and cancellation.</a:t>
            </a:r>
          </a:p>
        </p:txBody>
      </p:sp>
      <p:sp>
        <p:nvSpPr>
          <p:cNvPr id="19" name="features-rule-3">
            <a:extLst xmlns:a="http://schemas.openxmlformats.org/drawingml/2006/main">
              <a:ext uri="{FF2B5EF4-FFF2-40B4-BE49-F238E27FC236}">
                <a16:creationId xmlns:a16="http://schemas.microsoft.com/office/drawing/2014/main" id="{817E8B38-E589-477F-9DC6-7502EFE7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243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features-index-4">
            <a:extLst xmlns:a="http://schemas.openxmlformats.org/drawingml/2006/main">
              <a:ext uri="{FF2B5EF4-FFF2-40B4-BE49-F238E27FC236}">
                <a16:creationId xmlns:a16="http://schemas.microsoft.com/office/drawing/2014/main" id="{441171FD-F742-47FF-B4ED-F7A6005B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95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1" name="features-label-4">
            <a:extLst xmlns:a="http://schemas.openxmlformats.org/drawingml/2006/main">
              <a:ext uri="{FF2B5EF4-FFF2-40B4-BE49-F238E27FC236}">
                <a16:creationId xmlns:a16="http://schemas.microsoft.com/office/drawing/2014/main" id="{AB91A3C6-11BA-4AD6-9A1E-CC20893B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577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64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Measure + extend</a:t>
            </a:r>
          </a:p>
        </p:txBody>
      </p:sp>
      <p:sp>
        <p:nvSpPr>
          <p:cNvPr id="22" name="features-body-4">
            <a:extLst xmlns:a="http://schemas.openxmlformats.org/drawingml/2006/main">
              <a:ext uri="{FF2B5EF4-FFF2-40B4-BE49-F238E27FC236}">
                <a16:creationId xmlns:a16="http://schemas.microsoft.com/office/drawing/2014/main" id="{A1B9BD3D-D58D-471F-8422-DC88356D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862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>
                <a:solidFill>
                  <a:srgbClr val="5E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E626B"/>
                </a:solidFill>
                <a:latin typeface="Helvetica Neue"/>
                <a:ea typeface="Helvetica Neue"/>
                <a:cs typeface="Helvetica Neue"/>
              </a:rPr>
              <a:t>Evaluation checks faithfulness; optional GraphRAG, live data, and artifacts expand the workflow.</a:t>
            </a:r>
          </a:p>
        </p:txBody>
      </p:sp>
      <p:sp>
        <p:nvSpPr>
          <p:cNvPr id="23" name="features-callout">
            <a:extLst xmlns:a="http://schemas.openxmlformats.org/drawingml/2006/main">
              <a:ext uri="{FF2B5EF4-FFF2-40B4-BE49-F238E27FC236}">
                <a16:creationId xmlns:a16="http://schemas.microsoft.com/office/drawing/2014/main" id="{75C0973F-3914-4292-A596-F12575A2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24" name="features-callout-text">
            <a:extLst xmlns:a="http://schemas.openxmlformats.org/drawingml/2006/main">
              <a:ext uri="{FF2B5EF4-FFF2-40B4-BE49-F238E27FC236}">
                <a16:creationId xmlns:a16="http://schemas.microsoft.com/office/drawing/2014/main" id="{F213084A-AB37-4065-8EB3-92CD5A1A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388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governed answer is not just relevant—it is permission-aware, current, and explainable.</a:t>
            </a:r>
          </a:p>
        </p:txBody>
      </p:sp>
      <p:sp>
        <p:nvSpPr>
          <p:cNvPr id="25" name="footer-5">
            <a:extLst xmlns:a="http://schemas.openxmlformats.org/drawingml/2006/main">
              <a:ext uri="{FF2B5EF4-FFF2-40B4-BE49-F238E27FC236}">
                <a16:creationId xmlns:a16="http://schemas.microsoft.com/office/drawing/2014/main" id="{163A2135-CDC1-47A1-9CDA-F12C701F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2865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E626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25063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2026-09-02T21:41:10.5500000Z</dcterms:created>
  <dcterms:modified xsi:type="dcterms:W3CDTF">2026-09-02T21:41:10.5500000Z</dcterms:modified>
</coreProperties>
</file>